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9956f76-8e5b-a6a1-4e4a-23b715978dcd}">
          <p14:sldIdLst>
            <p14:sldId id="256"/>
            <p14:sldId id="257"/>
          </p14:sldIdLst>
        </p14:section>
        <p14:section name="Esencia" id="{4865d359-b8f9-92e1-ab7b-d5bb0aa8bd12}">
          <p14:sldIdLst>
            <p14:sldId id="258"/>
            <p14:sldId id="259"/>
            <p14:sldId id="260"/>
            <p14:sldId id="261"/>
            <p14:sldId id="262"/>
          </p14:sldIdLst>
        </p14:section>
        <p14:section name="Logotipo" id="{9f4e1192-8a58-30a2-e9f1-44c9de1a21eb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lor y tipografía" id="{f1231d26-266f-3363-8371-2443b5c663d1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nterfaz y datos" id="{12e94ef9-7734-fd25-6a6d-ca9e8fc9db25}">
          <p14:sldIdLst>
            <p14:sldId id="275"/>
            <p14:sldId id="276"/>
            <p14:sldId id="277"/>
            <p14:sldId id="278"/>
          </p14:sldIdLst>
        </p14:section>
        <p14:section name="Aplicaciones" id="{6a8f7f9c-506b-6d58-5bac-87aa394fb9a3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manual. El lema «Cada voto se suma» es una propuesta que nace del isotipo: tres boletas que se apilan.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isotipo cuenta la estructura de los datos: el pipeline publica tres niveles (nacional, entidad y municipio) y nunca la sección electoral (RN-02).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Medidas tomadas del archivo del logotipo: la palabra mide X; el isotipo, unas 2X; la separación entre ambos, 0.2X.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medidas impresas son una propuesta: confirmarlas con una prueba de impresión cuando exista el vector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Proporción de uso en piezas de marca. En la interfaz el papel domina y el magenta se reserva para identidad y selección.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ejemplo del SRS §3.3: participación nacional en elecciones federales 2009–2024.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app las fuentes deben alojarse en el propio sitio: la política de seguridad (CSP) bloquea Google Fonts.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Tamaños en px de la escala de la app. En lectura fácil (W-13) el cuerpo sube a 20 px, h1 a 28 px y la cifra a 64 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Pantallas construidas con los componentes del sistema de diseño. Cifras de ejemplo del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Contrastes calculados con la fórmula de WCAG 2.2 sobre los valores HEX de la paleta.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tarjeta incluye cifra, territorio, periodo, fuente y liga del sitio; nunca datos personales (RN-08).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Papelería de equipo para la presentación ante el jurado. Los campos entre corchetes se llenan por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_FONDO">
    <p:bg>
      <p:bgPr>
        <a:solidFill>
          <a:srgbClr val="FB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_OSCURO">
    <p:bg>
      <p:bgPr>
        <a:solidFill>
          <a:srgbClr val="17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 · Manual de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_DIVISOR">
    <p:bg>
      <p:bgPr>
        <a:solidFill>
          <a:srgbClr val="FF2D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766560" y="320040"/>
            <a:ext cx="475488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22000" b="1" dirty="0">
                <a:solidFill>
                  <a:srgbClr val="EB1C8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r" indent="0" marL="0">
              <a:buNone/>
            </a:pP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43434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_PORTADA">
    <p:bg>
      <p:bgPr>
        <a:solidFill>
          <a:srgbClr val="17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1.png"/><Relationship Id="rId4" Type="http://schemas.openxmlformats.org/officeDocument/2006/relationships/image" Target="../media/image-28-1.png"/><Relationship Id="rId5" Type="http://schemas.openxmlformats.org/officeDocument/2006/relationships/image" Target="../media/image-28-1.png"/><Relationship Id="rId6" Type="http://schemas.openxmlformats.org/officeDocument/2006/relationships/image" Target="../media/image-28-1.png"/><Relationship Id="rId7" Type="http://schemas.openxmlformats.org/officeDocument/2006/relationships/image" Target="../media/image-28-1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-1"/>
          <p:cNvSpPr/>
          <p:nvPr/>
        </p:nvSpPr>
        <p:spPr>
          <a:xfrm>
            <a:off x="6309360" y="1051560"/>
            <a:ext cx="4754880" cy="4754880"/>
          </a:xfrm>
          <a:prstGeom prst="roundRect">
            <a:avLst>
              <a:gd name="adj" fmla="val 24000"/>
            </a:avLst>
          </a:prstGeom>
          <a:ln w="12700">
            <a:solidFill>
              <a:srgbClr val="2A2B3D"/>
            </a:solidFill>
            <a:prstDash val="solid"/>
          </a:ln>
        </p:spPr>
      </p:sp>
      <p:sp>
        <p:nvSpPr>
          <p:cNvPr id="4" name="obj-2"/>
          <p:cNvSpPr/>
          <p:nvPr/>
        </p:nvSpPr>
        <p:spPr>
          <a:xfrm>
            <a:off x="6766560" y="1508760"/>
            <a:ext cx="3840480" cy="3840480"/>
          </a:xfrm>
          <a:prstGeom prst="roundRect">
            <a:avLst>
              <a:gd name="adj" fmla="val 24000"/>
            </a:avLst>
          </a:prstGeom>
          <a:ln w="12700">
            <a:solidFill>
              <a:srgbClr val="34354A"/>
            </a:solidFill>
            <a:prstDash val="solid"/>
          </a:ln>
        </p:spPr>
      </p:sp>
      <p:sp>
        <p:nvSpPr>
          <p:cNvPr id="5" name="obj-3"/>
          <p:cNvSpPr/>
          <p:nvPr/>
        </p:nvSpPr>
        <p:spPr>
          <a:xfrm>
            <a:off x="7223760" y="1965960"/>
            <a:ext cx="2926080" cy="2926080"/>
          </a:xfrm>
          <a:prstGeom prst="roundRect">
            <a:avLst>
              <a:gd name="adj" fmla="val 24000"/>
            </a:avLst>
          </a:prstGeom>
          <a:ln w="12700">
            <a:solidFill>
              <a:srgbClr val="44455A"/>
            </a:solidFill>
            <a:prstDash val="solid"/>
          </a:ln>
        </p:spPr>
      </p:sp>
      <p:pic>
        <p:nvPicPr>
          <p:cNvPr id="6" name="obj-4" descr="Isotipo de ReVoto: tres tarjetas apiladas en magenta, magenta oscuro y ciru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266" y="2331720"/>
            <a:ext cx="2499068" cy="2194560"/>
          </a:xfrm>
          <a:prstGeom prst="rect">
            <a:avLst/>
          </a:prstGeom>
        </p:spPr>
      </p:pic>
      <p:sp>
        <p:nvSpPr>
          <p:cNvPr id="7" name="obj-5"/>
          <p:cNvSpPr txBox="1"/>
          <p:nvPr/>
        </p:nvSpPr>
        <p:spPr>
          <a:xfrm>
            <a:off x="685800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DE IDENTIDAD DE MARCA</a:t>
            </a:r>
            <a:endParaRPr lang="en-US" sz="1400" dirty="0"/>
          </a:p>
        </p:txBody>
      </p:sp>
      <p:sp>
        <p:nvSpPr>
          <p:cNvPr id="8" name="obj-6"/>
          <p:cNvSpPr txBox="1"/>
          <p:nvPr/>
        </p:nvSpPr>
        <p:spPr>
          <a:xfrm>
            <a:off x="640080" y="2514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ReVoto</a:t>
            </a:r>
            <a:endParaRPr lang="en-US" sz="10400" dirty="0"/>
          </a:p>
        </p:txBody>
      </p:sp>
      <p:sp>
        <p:nvSpPr>
          <p:cNvPr id="9" name="obj-7"/>
          <p:cNvSpPr txBox="1"/>
          <p:nvPr/>
        </p:nvSpPr>
        <p:spPr>
          <a:xfrm>
            <a:off x="685800" y="4023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voto se suma.</a:t>
            </a:r>
            <a:endParaRPr lang="en-US" sz="2800" dirty="0"/>
          </a:p>
        </p:txBody>
      </p:sp>
      <p:sp>
        <p:nvSpPr>
          <p:cNvPr id="10" name="obj-8"/>
          <p:cNvSpPr txBox="1"/>
          <p:nvPr/>
        </p:nvSpPr>
        <p:spPr>
          <a:xfrm>
            <a:off x="68580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Hackathon INE 2026 · MIWA · Versión 1.0 · Octubre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-9"/>
          <p:cNvSpPr txBox="1"/>
          <p:nvPr/>
        </p:nvSpPr>
        <p:spPr>
          <a:xfrm>
            <a:off x="685800" y="822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Contenido</a:t>
            </a:r>
            <a:endParaRPr lang="en-US" sz="5400" dirty="0"/>
          </a:p>
        </p:txBody>
      </p:sp>
      <p:sp>
        <p:nvSpPr>
          <p:cNvPr id="3" name="obj-10"/>
          <p:cNvSpPr txBox="1"/>
          <p:nvPr/>
        </p:nvSpPr>
        <p:spPr>
          <a:xfrm>
            <a:off x="685800" y="5120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Todo lo necesario para usar la marca con coherencia, en la app, en redes y en papel.</a:t>
            </a:r>
            <a:endParaRPr lang="en-US" sz="1500" dirty="0"/>
          </a:p>
        </p:txBody>
      </p:sp>
      <p:sp>
        <p:nvSpPr>
          <p:cNvPr id="4" name="obj-11"/>
          <p:cNvSpPr/>
          <p:nvPr/>
        </p:nvSpPr>
        <p:spPr>
          <a:xfrm>
            <a:off x="5394960" y="777240"/>
            <a:ext cx="612648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5" name="obj-12"/>
          <p:cNvSpPr txBox="1"/>
          <p:nvPr/>
        </p:nvSpPr>
        <p:spPr>
          <a:xfrm>
            <a:off x="5394960" y="1033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obj-13"/>
          <p:cNvSpPr txBox="1"/>
          <p:nvPr/>
        </p:nvSpPr>
        <p:spPr>
          <a:xfrm>
            <a:off x="6080760" y="9418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Esencia</a:t>
            </a:r>
            <a:endParaRPr lang="en-US" sz="3400" dirty="0"/>
          </a:p>
        </p:txBody>
      </p:sp>
      <p:sp>
        <p:nvSpPr>
          <p:cNvPr id="7" name="obj-14"/>
          <p:cNvSpPr/>
          <p:nvPr/>
        </p:nvSpPr>
        <p:spPr>
          <a:xfrm>
            <a:off x="5394960" y="1709928"/>
            <a:ext cx="612648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8" name="obj-15"/>
          <p:cNvSpPr txBox="1"/>
          <p:nvPr/>
        </p:nvSpPr>
        <p:spPr>
          <a:xfrm>
            <a:off x="53949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obj-16"/>
          <p:cNvSpPr txBox="1"/>
          <p:nvPr/>
        </p:nvSpPr>
        <p:spPr>
          <a:xfrm>
            <a:off x="6080760" y="1874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</a:t>
            </a:r>
            <a:endParaRPr lang="en-US" sz="3400" dirty="0"/>
          </a:p>
        </p:txBody>
      </p:sp>
      <p:sp>
        <p:nvSpPr>
          <p:cNvPr id="10" name="obj-17"/>
          <p:cNvSpPr/>
          <p:nvPr/>
        </p:nvSpPr>
        <p:spPr>
          <a:xfrm>
            <a:off x="5394960" y="2642616"/>
            <a:ext cx="612648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1" name="obj-18"/>
          <p:cNvSpPr txBox="1"/>
          <p:nvPr/>
        </p:nvSpPr>
        <p:spPr>
          <a:xfrm>
            <a:off x="539496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obj-19"/>
          <p:cNvSpPr txBox="1"/>
          <p:nvPr/>
        </p:nvSpPr>
        <p:spPr>
          <a:xfrm>
            <a:off x="6080760" y="28072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Color y tipografía</a:t>
            </a:r>
            <a:endParaRPr lang="en-US" sz="3400" dirty="0"/>
          </a:p>
        </p:txBody>
      </p:sp>
      <p:sp>
        <p:nvSpPr>
          <p:cNvPr id="13" name="obj-20"/>
          <p:cNvSpPr/>
          <p:nvPr/>
        </p:nvSpPr>
        <p:spPr>
          <a:xfrm>
            <a:off x="5394960" y="3575304"/>
            <a:ext cx="612648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4" name="obj-21"/>
          <p:cNvSpPr txBox="1"/>
          <p:nvPr/>
        </p:nvSpPr>
        <p:spPr>
          <a:xfrm>
            <a:off x="5394960" y="3831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obj-22"/>
          <p:cNvSpPr txBox="1"/>
          <p:nvPr/>
        </p:nvSpPr>
        <p:spPr>
          <a:xfrm>
            <a:off x="6080760" y="37398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Interfaz y datos</a:t>
            </a:r>
            <a:endParaRPr lang="en-US" sz="3400" dirty="0"/>
          </a:p>
        </p:txBody>
      </p:sp>
      <p:sp>
        <p:nvSpPr>
          <p:cNvPr id="16" name="obj-23"/>
          <p:cNvSpPr/>
          <p:nvPr/>
        </p:nvSpPr>
        <p:spPr>
          <a:xfrm>
            <a:off x="5394960" y="4507992"/>
            <a:ext cx="612648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7" name="obj-24"/>
          <p:cNvSpPr txBox="1"/>
          <p:nvPr/>
        </p:nvSpPr>
        <p:spPr>
          <a:xfrm>
            <a:off x="5394960" y="4764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obj-25"/>
          <p:cNvSpPr txBox="1"/>
          <p:nvPr/>
        </p:nvSpPr>
        <p:spPr>
          <a:xfrm>
            <a:off x="6080760" y="467258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Aplicaciones</a:t>
            </a:r>
            <a:endParaRPr lang="en-US" sz="3400" dirty="0"/>
          </a:p>
        </p:txBody>
      </p:sp>
      <p:sp>
        <p:nvSpPr>
          <p:cNvPr id="19" name="obj-26"/>
          <p:cNvSpPr/>
          <p:nvPr/>
        </p:nvSpPr>
        <p:spPr>
          <a:xfrm>
            <a:off x="5394960" y="5440680"/>
            <a:ext cx="612648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20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1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766560" y="320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EB1C8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4343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Esencia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es ReVoto, qué significa su símbolo y cómo habla.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CONCEPTO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 nombre, dos ideas</a:t>
            </a:r>
            <a:endParaRPr lang="en-US" sz="3600" dirty="0"/>
          </a:p>
        </p:txBody>
      </p:sp>
      <p:sp>
        <p:nvSpPr>
          <p:cNvPr id="4" name="obj-27"/>
          <p:cNvSpPr txBox="1"/>
          <p:nvPr/>
        </p:nvSpPr>
        <p:spPr>
          <a:xfrm>
            <a:off x="1005840" y="2240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</a:t>
            </a:r>
            <a:endParaRPr lang="en-US" sz="6600" dirty="0"/>
          </a:p>
        </p:txBody>
      </p:sp>
      <p:sp>
        <p:nvSpPr>
          <p:cNvPr id="5" name="obj-28"/>
          <p:cNvSpPr txBox="1"/>
          <p:nvPr/>
        </p:nvSpPr>
        <p:spPr>
          <a:xfrm>
            <a:off x="100584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Volver a mirar, revisar, recontar.</a:t>
            </a:r>
            <a:endParaRPr lang="en-US" sz="1800" dirty="0"/>
          </a:p>
        </p:txBody>
      </p:sp>
      <p:sp>
        <p:nvSpPr>
          <p:cNvPr id="6" name="obj-29"/>
          <p:cNvSpPr txBox="1"/>
          <p:nvPr/>
        </p:nvSpPr>
        <p:spPr>
          <a:xfrm>
            <a:off x="553212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</a:t>
            </a:r>
            <a:endParaRPr lang="en-US" sz="4800" dirty="0"/>
          </a:p>
        </p:txBody>
      </p:sp>
      <p:sp>
        <p:nvSpPr>
          <p:cNvPr id="7" name="obj-30"/>
          <p:cNvSpPr/>
          <p:nvPr/>
        </p:nvSpPr>
        <p:spPr>
          <a:xfrm>
            <a:off x="6355080" y="1920240"/>
            <a:ext cx="5120640" cy="2057400"/>
          </a:xfrm>
          <a:prstGeom prst="roundRect">
            <a:avLst>
              <a:gd name="adj" fmla="val 15556"/>
            </a:avLst>
          </a:prstGeom>
          <a:solidFill>
            <a:srgbClr val="171824"/>
          </a:solidFill>
          <a:ln/>
        </p:spPr>
      </p:sp>
      <p:sp>
        <p:nvSpPr>
          <p:cNvPr id="8" name="obj-31"/>
          <p:cNvSpPr txBox="1"/>
          <p:nvPr/>
        </p:nvSpPr>
        <p:spPr>
          <a:xfrm>
            <a:off x="6812280" y="2240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Voto</a:t>
            </a:r>
            <a:endParaRPr lang="en-US" sz="6600" dirty="0"/>
          </a:p>
        </p:txBody>
      </p:sp>
      <p:sp>
        <p:nvSpPr>
          <p:cNvPr id="9" name="obj-32"/>
          <p:cNvSpPr txBox="1"/>
          <p:nvPr/>
        </p:nvSpPr>
        <p:spPr>
          <a:xfrm>
            <a:off x="681228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Participar, contar, sumarse.</a:t>
            </a:r>
            <a:endParaRPr lang="en-US" sz="1800" dirty="0"/>
          </a:p>
        </p:txBody>
      </p:sp>
      <p:sp>
        <p:nvSpPr>
          <p:cNvPr id="10" name="obj-33"/>
          <p:cNvSpPr txBox="1"/>
          <p:nvPr/>
        </p:nvSpPr>
        <p:spPr>
          <a:xfrm>
            <a:off x="685800" y="44348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marca promete </a:t>
            </a:r>
            <a:pPr indent="0" marL="0">
              <a:buNone/>
            </a:pPr>
            <a:r>
              <a:rPr lang="en-US" sz="24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 voto en contexto</a:t>
            </a:r>
            <a:pPr indent="0" marL="0">
              <a:buNone/>
            </a:pPr>
            <a:r>
              <a:rPr lang="en-US" sz="2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cuánto vota tu territorio, cómo cambió desde 2009 y de dónde sale cada cifra. Sin colores de partido.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-34"/>
          <p:cNvSpPr/>
          <p:nvPr/>
        </p:nvSpPr>
        <p:spPr>
          <a:xfrm>
            <a:off x="685800" y="68580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4354A"/>
            </a:solidFill>
            <a:prstDash val="solid"/>
          </a:ln>
        </p:spPr>
      </p:sp>
      <p:pic>
        <p:nvPicPr>
          <p:cNvPr id="4" name="obj-35" descr="Isotipo de ReV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20455"/>
            <a:ext cx="3474720" cy="3051330"/>
          </a:xfrm>
          <a:prstGeom prst="rect">
            <a:avLst/>
          </a:prstGeom>
        </p:spPr>
      </p:pic>
      <p:sp>
        <p:nvSpPr>
          <p:cNvPr id="5" name="obj-36"/>
          <p:cNvSpPr txBox="1"/>
          <p:nvPr/>
        </p:nvSpPr>
        <p:spPr>
          <a:xfrm>
            <a:off x="640080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SÍMBOLO</a:t>
            </a:r>
            <a:endParaRPr lang="en-US" sz="1200" dirty="0"/>
          </a:p>
        </p:txBody>
      </p:sp>
      <p:sp>
        <p:nvSpPr>
          <p:cNvPr id="6" name="obj-37"/>
          <p:cNvSpPr txBox="1"/>
          <p:nvPr/>
        </p:nvSpPr>
        <p:spPr>
          <a:xfrm>
            <a:off x="6400800" y="1005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Tres boletas que se suman</a:t>
            </a:r>
            <a:endParaRPr lang="en-US" sz="3400" dirty="0"/>
          </a:p>
        </p:txBody>
      </p:sp>
      <p:sp>
        <p:nvSpPr>
          <p:cNvPr id="7" name="obj-38"/>
          <p:cNvSpPr/>
          <p:nvPr/>
        </p:nvSpPr>
        <p:spPr>
          <a:xfrm>
            <a:off x="6400800" y="2331720"/>
            <a:ext cx="512064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8" name="obj-39"/>
          <p:cNvSpPr/>
          <p:nvPr/>
        </p:nvSpPr>
        <p:spPr>
          <a:xfrm>
            <a:off x="6400800" y="25786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2D94"/>
          </a:solidFill>
          <a:ln/>
        </p:spPr>
      </p:sp>
      <p:sp>
        <p:nvSpPr>
          <p:cNvPr id="9" name="obj-40"/>
          <p:cNvSpPr txBox="1"/>
          <p:nvPr/>
        </p:nvSpPr>
        <p:spPr>
          <a:xfrm>
            <a:off x="7040880" y="2496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Tarjeta superior</a:t>
            </a:r>
            <a:endParaRPr lang="en-US" sz="2000" dirty="0"/>
          </a:p>
        </p:txBody>
      </p:sp>
      <p:sp>
        <p:nvSpPr>
          <p:cNvPr id="10" name="obj-41"/>
          <p:cNvSpPr txBox="1"/>
          <p:nvPr/>
        </p:nvSpPr>
        <p:spPr>
          <a:xfrm>
            <a:off x="7040880" y="2862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 municipio: lo más cercano a ti.</a:t>
            </a:r>
            <a:endParaRPr lang="en-US" sz="1500" dirty="0"/>
          </a:p>
        </p:txBody>
      </p:sp>
      <p:sp>
        <p:nvSpPr>
          <p:cNvPr id="11" name="obj-42"/>
          <p:cNvSpPr/>
          <p:nvPr/>
        </p:nvSpPr>
        <p:spPr>
          <a:xfrm>
            <a:off x="6400800" y="3264408"/>
            <a:ext cx="512064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2" name="obj-43"/>
          <p:cNvSpPr/>
          <p:nvPr/>
        </p:nvSpPr>
        <p:spPr>
          <a:xfrm>
            <a:off x="6400800" y="35112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C8106E"/>
          </a:solidFill>
          <a:ln/>
        </p:spPr>
      </p:sp>
      <p:sp>
        <p:nvSpPr>
          <p:cNvPr id="13" name="obj-44"/>
          <p:cNvSpPr txBox="1"/>
          <p:nvPr/>
        </p:nvSpPr>
        <p:spPr>
          <a:xfrm>
            <a:off x="704088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Tarjeta intermedia</a:t>
            </a:r>
            <a:endParaRPr lang="en-US" sz="2000" dirty="0"/>
          </a:p>
        </p:txBody>
      </p:sp>
      <p:sp>
        <p:nvSpPr>
          <p:cNvPr id="14" name="obj-45"/>
          <p:cNvSpPr txBox="1"/>
          <p:nvPr/>
        </p:nvSpPr>
        <p:spPr>
          <a:xfrm>
            <a:off x="7040880" y="3794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 entidad: el contexto inmediato.</a:t>
            </a:r>
            <a:endParaRPr lang="en-US" sz="1500" dirty="0"/>
          </a:p>
        </p:txBody>
      </p:sp>
      <p:sp>
        <p:nvSpPr>
          <p:cNvPr id="15" name="obj-46"/>
          <p:cNvSpPr/>
          <p:nvPr/>
        </p:nvSpPr>
        <p:spPr>
          <a:xfrm>
            <a:off x="6400800" y="4197096"/>
            <a:ext cx="512064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6" name="obj-47"/>
          <p:cNvSpPr/>
          <p:nvPr/>
        </p:nvSpPr>
        <p:spPr>
          <a:xfrm>
            <a:off x="6400800" y="44439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33D82"/>
          </a:solidFill>
          <a:ln/>
        </p:spPr>
      </p:sp>
      <p:sp>
        <p:nvSpPr>
          <p:cNvPr id="17" name="obj-48"/>
          <p:cNvSpPr txBox="1"/>
          <p:nvPr/>
        </p:nvSpPr>
        <p:spPr>
          <a:xfrm>
            <a:off x="7040880" y="4361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Tarjeta inferior</a:t>
            </a:r>
            <a:endParaRPr lang="en-US" sz="2000" dirty="0"/>
          </a:p>
        </p:txBody>
      </p:sp>
      <p:sp>
        <p:nvSpPr>
          <p:cNvPr id="18" name="obj-49"/>
          <p:cNvSpPr txBox="1"/>
          <p:nvPr/>
        </p:nvSpPr>
        <p:spPr>
          <a:xfrm>
            <a:off x="7040880" y="4727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país: la base que lo sostiene todo.</a:t>
            </a:r>
            <a:endParaRPr lang="en-US" sz="1500" dirty="0"/>
          </a:p>
        </p:txBody>
      </p:sp>
      <p:sp>
        <p:nvSpPr>
          <p:cNvPr id="19" name="obj-50"/>
          <p:cNvSpPr/>
          <p:nvPr/>
        </p:nvSpPr>
        <p:spPr>
          <a:xfrm>
            <a:off x="6400800" y="5129784"/>
            <a:ext cx="512064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20" name="obj-51"/>
          <p:cNvSpPr txBox="1"/>
          <p:nvPr/>
        </p:nvSpPr>
        <p:spPr>
          <a:xfrm>
            <a:off x="6400800" y="5257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capa es un nivel de los datos. La sección electoral nunca aparece: es demasiado pequeña para publicarse con seguridad.</a:t>
            </a:r>
            <a:endParaRPr lang="en-US" sz="1400" dirty="0"/>
          </a:p>
        </p:txBody>
      </p:sp>
      <p:sp>
        <p:nvSpPr>
          <p:cNvPr id="21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PERSONALIDAD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Cuatro atributos de marca</a:t>
            </a:r>
            <a:endParaRPr lang="en-US" sz="3600" dirty="0"/>
          </a:p>
        </p:txBody>
      </p:sp>
      <p:sp>
        <p:nvSpPr>
          <p:cNvPr id="4" name="obj-52"/>
          <p:cNvSpPr/>
          <p:nvPr/>
        </p:nvSpPr>
        <p:spPr>
          <a:xfrm>
            <a:off x="685800" y="2057400"/>
            <a:ext cx="2542032" cy="2651760"/>
          </a:xfrm>
          <a:prstGeom prst="roundRect">
            <a:avLst>
              <a:gd name="adj" fmla="val 1259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5" name="obj-53"/>
          <p:cNvSpPr txBox="1"/>
          <p:nvPr/>
        </p:nvSpPr>
        <p:spPr>
          <a:xfrm>
            <a:off x="100584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obj-54"/>
          <p:cNvSpPr txBox="1"/>
          <p:nvPr/>
        </p:nvSpPr>
        <p:spPr>
          <a:xfrm>
            <a:off x="1005840" y="28346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Cercana</a:t>
            </a:r>
            <a:endParaRPr lang="en-US" sz="2600" dirty="0"/>
          </a:p>
        </p:txBody>
      </p:sp>
      <p:sp>
        <p:nvSpPr>
          <p:cNvPr id="7" name="obj-55"/>
          <p:cNvSpPr txBox="1"/>
          <p:nvPr/>
        </p:nvSpPr>
        <p:spPr>
          <a:xfrm>
            <a:off x="1005840" y="3474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 habla de tú y empieza por tu territorio.</a:t>
            </a:r>
            <a:endParaRPr lang="en-US" sz="1500" dirty="0"/>
          </a:p>
        </p:txBody>
      </p:sp>
      <p:sp>
        <p:nvSpPr>
          <p:cNvPr id="8" name="obj-56"/>
          <p:cNvSpPr/>
          <p:nvPr/>
        </p:nvSpPr>
        <p:spPr>
          <a:xfrm>
            <a:off x="3410712" y="2057400"/>
            <a:ext cx="2542032" cy="2651760"/>
          </a:xfrm>
          <a:prstGeom prst="roundRect">
            <a:avLst>
              <a:gd name="adj" fmla="val 1259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9" name="obj-57"/>
          <p:cNvSpPr txBox="1"/>
          <p:nvPr/>
        </p:nvSpPr>
        <p:spPr>
          <a:xfrm>
            <a:off x="3730752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obj-58"/>
          <p:cNvSpPr txBox="1"/>
          <p:nvPr/>
        </p:nvSpPr>
        <p:spPr>
          <a:xfrm>
            <a:off x="3730752" y="28346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Clara</a:t>
            </a:r>
            <a:endParaRPr lang="en-US" sz="2600" dirty="0"/>
          </a:p>
        </p:txBody>
      </p:sp>
      <p:sp>
        <p:nvSpPr>
          <p:cNvPr id="11" name="obj-59"/>
          <p:cNvSpPr txBox="1"/>
          <p:nvPr/>
        </p:nvSpPr>
        <p:spPr>
          <a:xfrm>
            <a:off x="3730752" y="3474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 idea y una cifra por pantalla, en lenguaje llano.</a:t>
            </a:r>
            <a:endParaRPr lang="en-US" sz="1500" dirty="0"/>
          </a:p>
        </p:txBody>
      </p:sp>
      <p:sp>
        <p:nvSpPr>
          <p:cNvPr id="12" name="obj-60"/>
          <p:cNvSpPr/>
          <p:nvPr/>
        </p:nvSpPr>
        <p:spPr>
          <a:xfrm>
            <a:off x="6135624" y="2057400"/>
            <a:ext cx="2542032" cy="2651760"/>
          </a:xfrm>
          <a:prstGeom prst="roundRect">
            <a:avLst>
              <a:gd name="adj" fmla="val 1259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13" name="obj-61"/>
          <p:cNvSpPr txBox="1"/>
          <p:nvPr/>
        </p:nvSpPr>
        <p:spPr>
          <a:xfrm>
            <a:off x="6455664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obj-62"/>
          <p:cNvSpPr txBox="1"/>
          <p:nvPr/>
        </p:nvSpPr>
        <p:spPr>
          <a:xfrm>
            <a:off x="6455664" y="28346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Neutral</a:t>
            </a:r>
            <a:endParaRPr lang="en-US" sz="2600" dirty="0"/>
          </a:p>
        </p:txBody>
      </p:sp>
      <p:sp>
        <p:nvSpPr>
          <p:cNvPr id="15" name="obj-63"/>
          <p:cNvSpPr txBox="1"/>
          <p:nvPr/>
        </p:nvSpPr>
        <p:spPr>
          <a:xfrm>
            <a:off x="6455664" y="3474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Ningún color, palabra ni imagen favorece a un partido.</a:t>
            </a:r>
            <a:endParaRPr lang="en-US" sz="1500" dirty="0"/>
          </a:p>
        </p:txBody>
      </p:sp>
      <p:sp>
        <p:nvSpPr>
          <p:cNvPr id="16" name="obj-64"/>
          <p:cNvSpPr/>
          <p:nvPr/>
        </p:nvSpPr>
        <p:spPr>
          <a:xfrm>
            <a:off x="8860536" y="2057400"/>
            <a:ext cx="2542032" cy="2651760"/>
          </a:xfrm>
          <a:prstGeom prst="roundRect">
            <a:avLst>
              <a:gd name="adj" fmla="val 1259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17" name="obj-65"/>
          <p:cNvSpPr txBox="1"/>
          <p:nvPr/>
        </p:nvSpPr>
        <p:spPr>
          <a:xfrm>
            <a:off x="9180576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obj-66"/>
          <p:cNvSpPr txBox="1"/>
          <p:nvPr/>
        </p:nvSpPr>
        <p:spPr>
          <a:xfrm>
            <a:off x="9180576" y="28346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Verificable</a:t>
            </a:r>
            <a:endParaRPr lang="en-US" sz="2600" dirty="0"/>
          </a:p>
        </p:txBody>
      </p:sp>
      <p:sp>
        <p:nvSpPr>
          <p:cNvPr id="19" name="obj-67"/>
          <p:cNvSpPr txBox="1"/>
          <p:nvPr/>
        </p:nvSpPr>
        <p:spPr>
          <a:xfrm>
            <a:off x="9180576" y="3474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 cifra dice dónde, cuándo y de dónde sale.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VOZ Y TONO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Explicamos sin presumir</a:t>
            </a:r>
            <a:endParaRPr lang="en-US" sz="3600" dirty="0"/>
          </a:p>
        </p:txBody>
      </p:sp>
      <p:sp>
        <p:nvSpPr>
          <p:cNvPr id="4" name="obj-68"/>
          <p:cNvSpPr/>
          <p:nvPr/>
        </p:nvSpPr>
        <p:spPr>
          <a:xfrm>
            <a:off x="685800" y="1874520"/>
            <a:ext cx="5394960" cy="3520440"/>
          </a:xfrm>
          <a:prstGeom prst="roundRect">
            <a:avLst>
              <a:gd name="adj" fmla="val 10390"/>
            </a:avLst>
          </a:prstGeom>
          <a:solidFill>
            <a:srgbClr val="171824"/>
          </a:solidFill>
          <a:ln/>
        </p:spPr>
      </p:sp>
      <p:sp>
        <p:nvSpPr>
          <p:cNvPr id="5" name="obj-69"/>
          <p:cNvSpPr txBox="1"/>
          <p:nvPr/>
        </p:nvSpPr>
        <p:spPr>
          <a:xfrm>
            <a:off x="109728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  Así sí</a:t>
            </a:r>
            <a:endParaRPr lang="en-US" sz="2600" dirty="0"/>
          </a:p>
        </p:txBody>
      </p:sp>
      <p:sp>
        <p:nvSpPr>
          <p:cNvPr id="6" name="obj-70"/>
          <p:cNvSpPr/>
          <p:nvPr/>
        </p:nvSpPr>
        <p:spPr>
          <a:xfrm>
            <a:off x="1097280" y="2743200"/>
            <a:ext cx="457200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7" name="obj-71"/>
          <p:cNvSpPr txBox="1"/>
          <p:nvPr/>
        </p:nvSpPr>
        <p:spPr>
          <a:xfrm>
            <a:off x="1097280" y="2852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«¿Cuánto vota tu territorio?»</a:t>
            </a:r>
            <a:endParaRPr lang="en-US" sz="1600" dirty="0"/>
          </a:p>
        </p:txBody>
      </p:sp>
      <p:sp>
        <p:nvSpPr>
          <p:cNvPr id="8" name="obj-72"/>
          <p:cNvSpPr/>
          <p:nvPr/>
        </p:nvSpPr>
        <p:spPr>
          <a:xfrm>
            <a:off x="1097280" y="3383280"/>
            <a:ext cx="457200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9" name="obj-73"/>
          <p:cNvSpPr txBox="1"/>
          <p:nvPr/>
        </p:nvSpPr>
        <p:spPr>
          <a:xfrm>
            <a:off x="1097280" y="3493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«Seis de cada diez personas votaron en 2024.»</a:t>
            </a:r>
            <a:endParaRPr lang="en-US" sz="1600" dirty="0"/>
          </a:p>
        </p:txBody>
      </p:sp>
      <p:sp>
        <p:nvSpPr>
          <p:cNvPr id="10" name="obj-74"/>
          <p:cNvSpPr/>
          <p:nvPr/>
        </p:nvSpPr>
        <p:spPr>
          <a:xfrm>
            <a:off x="1097280" y="4023360"/>
            <a:ext cx="457200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1" name="obj-75"/>
          <p:cNvSpPr txBox="1"/>
          <p:nvPr/>
        </p:nvSpPr>
        <p:spPr>
          <a:xfrm>
            <a:off x="109728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«Tú decides cuándo pasar a la siguiente pantalla.»</a:t>
            </a:r>
            <a:endParaRPr lang="en-US" sz="1600" dirty="0"/>
          </a:p>
        </p:txBody>
      </p:sp>
      <p:sp>
        <p:nvSpPr>
          <p:cNvPr id="12" name="obj-76"/>
          <p:cNvSpPr/>
          <p:nvPr/>
        </p:nvSpPr>
        <p:spPr>
          <a:xfrm>
            <a:off x="1097280" y="4663440"/>
            <a:ext cx="4572000" cy="0"/>
          </a:xfrm>
          <a:prstGeom prst="line">
            <a:avLst/>
          </a:prstGeom>
          <a:noFill/>
          <a:ln w="12700">
            <a:solidFill>
              <a:srgbClr val="34354A"/>
            </a:solidFill>
            <a:prstDash val="solid"/>
          </a:ln>
        </p:spPr>
      </p:sp>
      <p:sp>
        <p:nvSpPr>
          <p:cNvPr id="13" name="obj-77"/>
          <p:cNvSpPr txBox="1"/>
          <p:nvPr/>
        </p:nvSpPr>
        <p:spPr>
          <a:xfrm>
            <a:off x="1097280" y="4773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Frases cortas, de tú, una idea a la vez.</a:t>
            </a:r>
            <a:endParaRPr lang="en-US" sz="1600" dirty="0"/>
          </a:p>
        </p:txBody>
      </p:sp>
      <p:sp>
        <p:nvSpPr>
          <p:cNvPr id="14" name="obj-78"/>
          <p:cNvSpPr txBox="1"/>
          <p:nvPr/>
        </p:nvSpPr>
        <p:spPr>
          <a:xfrm>
            <a:off x="653796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✕  Así no</a:t>
            </a:r>
            <a:endParaRPr lang="en-US" sz="2600" dirty="0"/>
          </a:p>
        </p:txBody>
      </p:sp>
      <p:sp>
        <p:nvSpPr>
          <p:cNvPr id="15" name="obj-79"/>
          <p:cNvSpPr/>
          <p:nvPr/>
        </p:nvSpPr>
        <p:spPr>
          <a:xfrm>
            <a:off x="6537960" y="2743200"/>
            <a:ext cx="493776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6" name="obj-80"/>
          <p:cNvSpPr txBox="1"/>
          <p:nvPr/>
        </p:nvSpPr>
        <p:spPr>
          <a:xfrm>
            <a:off x="6537960" y="2852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«¡¡Los jóvenes no votan!!»</a:t>
            </a:r>
            <a:endParaRPr lang="en-US" sz="1600" dirty="0"/>
          </a:p>
        </p:txBody>
      </p:sp>
      <p:sp>
        <p:nvSpPr>
          <p:cNvPr id="17" name="obj-81"/>
          <p:cNvSpPr/>
          <p:nvPr/>
        </p:nvSpPr>
        <p:spPr>
          <a:xfrm>
            <a:off x="6537960" y="3383280"/>
            <a:ext cx="493776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8" name="obj-82"/>
          <p:cNvSpPr txBox="1"/>
          <p:nvPr/>
        </p:nvSpPr>
        <p:spPr>
          <a:xfrm>
            <a:off x="6537960" y="3493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«Vota por el cambio.»</a:t>
            </a:r>
            <a:endParaRPr lang="en-US" sz="1600" dirty="0"/>
          </a:p>
        </p:txBody>
      </p:sp>
      <p:sp>
        <p:nvSpPr>
          <p:cNvPr id="19" name="obj-83"/>
          <p:cNvSpPr/>
          <p:nvPr/>
        </p:nvSpPr>
        <p:spPr>
          <a:xfrm>
            <a:off x="6537960" y="4023360"/>
            <a:ext cx="493776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20" name="obj-84"/>
          <p:cNvSpPr txBox="1"/>
          <p:nvPr/>
        </p:nvSpPr>
        <p:spPr>
          <a:xfrm>
            <a:off x="6537960" y="4133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«Tasa ajustada por registros NS.»</a:t>
            </a:r>
            <a:endParaRPr lang="en-US" sz="1600" dirty="0"/>
          </a:p>
        </p:txBody>
      </p:sp>
      <p:sp>
        <p:nvSpPr>
          <p:cNvPr id="21" name="obj-85"/>
          <p:cNvSpPr/>
          <p:nvPr/>
        </p:nvSpPr>
        <p:spPr>
          <a:xfrm>
            <a:off x="6537960" y="4663440"/>
            <a:ext cx="493776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22" name="obj-86"/>
          <p:cNvSpPr txBox="1"/>
          <p:nvPr/>
        </p:nvSpPr>
        <p:spPr>
          <a:xfrm>
            <a:off x="6537960" y="47731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Juicios, consignas y tecnicismos sin explicar.</a:t>
            </a:r>
            <a:endParaRPr lang="en-US" sz="1600" dirty="0"/>
          </a:p>
        </p:txBody>
      </p:sp>
      <p:sp>
        <p:nvSpPr>
          <p:cNvPr id="23" name="obj-87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nombre se escribe </a:t>
            </a:r>
            <a:pPr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</a:t>
            </a:r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una palabra, R y V mayúsculas. Solo el logotipo va en mayúsculas (REVOTO). Nunca «Re Voto» ni «Revoto».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766560" y="320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EB1C8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4343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Versiones, construcción, tamaños y reglas de uso.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Tres formas de firmar</a:t>
            </a:r>
            <a:endParaRPr lang="en-US" sz="3600" dirty="0"/>
          </a:p>
        </p:txBody>
      </p:sp>
      <p:sp>
        <p:nvSpPr>
          <p:cNvPr id="4" name="obj-88"/>
          <p:cNvSpPr/>
          <p:nvPr/>
        </p:nvSpPr>
        <p:spPr>
          <a:xfrm>
            <a:off x="685800" y="1965960"/>
            <a:ext cx="3456432" cy="3886200"/>
          </a:xfrm>
          <a:prstGeom prst="roundRect">
            <a:avLst>
              <a:gd name="adj" fmla="val 925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4354A"/>
            </a:solidFill>
            <a:prstDash val="solid"/>
          </a:ln>
        </p:spPr>
      </p:sp>
      <p:pic>
        <p:nvPicPr>
          <p:cNvPr id="5" name="obj-89" descr="Logo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34427"/>
            <a:ext cx="2359152" cy="1440506"/>
          </a:xfrm>
          <a:prstGeom prst="rect">
            <a:avLst/>
          </a:prstGeom>
        </p:spPr>
      </p:pic>
      <p:sp>
        <p:nvSpPr>
          <p:cNvPr id="6" name="obj-90"/>
          <p:cNvSpPr txBox="1"/>
          <p:nvPr/>
        </p:nvSpPr>
        <p:spPr>
          <a:xfrm>
            <a:off x="1005840" y="4343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</a:t>
            </a:r>
            <a:endParaRPr lang="en-US" sz="2200" dirty="0"/>
          </a:p>
        </p:txBody>
      </p:sp>
      <p:sp>
        <p:nvSpPr>
          <p:cNvPr id="7" name="obj-91"/>
          <p:cNvSpPr txBox="1"/>
          <p:nvPr/>
        </p:nvSpPr>
        <p:spPr>
          <a:xfrm>
            <a:off x="1005840" y="480060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Versión principal: portada (W-01), tarjeta para compartir (W-12) y cierre (W-10).</a:t>
            </a:r>
            <a:endParaRPr lang="en-US" sz="1400" dirty="0"/>
          </a:p>
        </p:txBody>
      </p:sp>
      <p:sp>
        <p:nvSpPr>
          <p:cNvPr id="8" name="obj-92"/>
          <p:cNvSpPr/>
          <p:nvPr/>
        </p:nvSpPr>
        <p:spPr>
          <a:xfrm>
            <a:off x="4370832" y="1965960"/>
            <a:ext cx="3456432" cy="3886200"/>
          </a:xfrm>
          <a:prstGeom prst="roundRect">
            <a:avLst>
              <a:gd name="adj" fmla="val 925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4354A"/>
            </a:solidFill>
            <a:prstDash val="solid"/>
          </a:ln>
        </p:spPr>
      </p:sp>
      <p:pic>
        <p:nvPicPr>
          <p:cNvPr id="9" name="obj-93" descr="Isotip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0" y="2240280"/>
            <a:ext cx="2082557" cy="1828800"/>
          </a:xfrm>
          <a:prstGeom prst="rect">
            <a:avLst/>
          </a:prstGeom>
        </p:spPr>
      </p:pic>
      <p:sp>
        <p:nvSpPr>
          <p:cNvPr id="10" name="obj-94"/>
          <p:cNvSpPr txBox="1"/>
          <p:nvPr/>
        </p:nvSpPr>
        <p:spPr>
          <a:xfrm>
            <a:off x="4690872" y="4343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Isotipo</a:t>
            </a:r>
            <a:endParaRPr lang="en-US" sz="2200" dirty="0"/>
          </a:p>
        </p:txBody>
      </p:sp>
      <p:sp>
        <p:nvSpPr>
          <p:cNvPr id="11" name="obj-95"/>
          <p:cNvSpPr txBox="1"/>
          <p:nvPr/>
        </p:nvSpPr>
        <p:spPr>
          <a:xfrm>
            <a:off x="4690872" y="480060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Zona superior de la app (32 px), sellos y espacios pequeños.</a:t>
            </a:r>
            <a:endParaRPr lang="en-US" sz="1400" dirty="0"/>
          </a:p>
        </p:txBody>
      </p:sp>
      <p:sp>
        <p:nvSpPr>
          <p:cNvPr id="12" name="obj-96"/>
          <p:cNvSpPr/>
          <p:nvPr/>
        </p:nvSpPr>
        <p:spPr>
          <a:xfrm>
            <a:off x="8055864" y="1965960"/>
            <a:ext cx="3456432" cy="3886200"/>
          </a:xfrm>
          <a:prstGeom prst="roundRect">
            <a:avLst>
              <a:gd name="adj" fmla="val 925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4354A"/>
            </a:solidFill>
            <a:prstDash val="solid"/>
          </a:ln>
        </p:spPr>
      </p:sp>
      <p:pic>
        <p:nvPicPr>
          <p:cNvPr id="13" name="obj-97" descr="Ícono de 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240280"/>
            <a:ext cx="1828800" cy="1828800"/>
          </a:xfrm>
          <a:prstGeom prst="rect">
            <a:avLst/>
          </a:prstGeom>
        </p:spPr>
      </p:pic>
      <p:sp>
        <p:nvSpPr>
          <p:cNvPr id="14" name="obj-98"/>
          <p:cNvSpPr txBox="1"/>
          <p:nvPr/>
        </p:nvSpPr>
        <p:spPr>
          <a:xfrm>
            <a:off x="8375904" y="4343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Ícono de app</a:t>
            </a:r>
            <a:endParaRPr lang="en-US" sz="2200" dirty="0"/>
          </a:p>
        </p:txBody>
      </p:sp>
      <p:sp>
        <p:nvSpPr>
          <p:cNvPr id="15" name="obj-99"/>
          <p:cNvSpPr txBox="1"/>
          <p:nvPr/>
        </p:nvSpPr>
        <p:spPr>
          <a:xfrm>
            <a:off x="8375904" y="480060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Favicon, ícono en la pantalla de inicio y avatar en redes.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-100"/>
          <p:cNvSpPr/>
          <p:nvPr/>
        </p:nvSpPr>
        <p:spPr>
          <a:xfrm>
            <a:off x="685800" y="68580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4" name="obj-101"/>
          <p:cNvSpPr/>
          <p:nvPr/>
        </p:nvSpPr>
        <p:spPr>
          <a:xfrm>
            <a:off x="1180195" y="1767701"/>
            <a:ext cx="4131851" cy="2956839"/>
          </a:xfrm>
          <a:prstGeom prst="roundRect">
            <a:avLst>
              <a:gd name="adj" fmla="val 10824"/>
            </a:avLst>
          </a:prstGeom>
          <a:ln w="15875">
            <a:solidFill>
              <a:srgbClr val="C8106E"/>
            </a:solidFill>
            <a:prstDash val="dash"/>
          </a:ln>
        </p:spPr>
      </p:sp>
      <p:pic>
        <p:nvPicPr>
          <p:cNvPr id="5" name="obj-102" descr="Logotipo de ReVoto con su área de prote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324866"/>
            <a:ext cx="3017520" cy="1842508"/>
          </a:xfrm>
          <a:prstGeom prst="rect">
            <a:avLst/>
          </a:prstGeom>
        </p:spPr>
      </p:pic>
      <p:sp>
        <p:nvSpPr>
          <p:cNvPr id="6" name="obj-103"/>
          <p:cNvSpPr txBox="1"/>
          <p:nvPr/>
        </p:nvSpPr>
        <p:spPr>
          <a:xfrm>
            <a:off x="3063240" y="1859141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</a:t>
            </a:r>
            <a:endParaRPr lang="en-US" sz="1600" dirty="0"/>
          </a:p>
        </p:txBody>
      </p:sp>
      <p:sp>
        <p:nvSpPr>
          <p:cNvPr id="7" name="obj-104"/>
          <p:cNvSpPr txBox="1"/>
          <p:nvPr/>
        </p:nvSpPr>
        <p:spPr>
          <a:xfrm>
            <a:off x="1253347" y="3081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obj-105"/>
          <p:cNvSpPr txBox="1"/>
          <p:nvPr/>
        </p:nvSpPr>
        <p:spPr>
          <a:xfrm>
            <a:off x="640080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9" name="obj-106"/>
          <p:cNvSpPr txBox="1"/>
          <p:nvPr/>
        </p:nvSpPr>
        <p:spPr>
          <a:xfrm>
            <a:off x="6400800" y="11887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Espacio para respirar</a:t>
            </a:r>
            <a:endParaRPr lang="en-US" sz="3400" dirty="0"/>
          </a:p>
        </p:txBody>
      </p:sp>
      <p:sp>
        <p:nvSpPr>
          <p:cNvPr id="10" name="obj-107"/>
          <p:cNvSpPr/>
          <p:nvPr/>
        </p:nvSpPr>
        <p:spPr>
          <a:xfrm>
            <a:off x="6400800" y="2194560"/>
            <a:ext cx="512064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1" name="obj-108"/>
          <p:cNvSpPr txBox="1"/>
          <p:nvPr/>
        </p:nvSpPr>
        <p:spPr>
          <a:xfrm>
            <a:off x="6400800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1X</a:t>
            </a:r>
            <a:endParaRPr lang="en-US" sz="3200" dirty="0"/>
          </a:p>
        </p:txBody>
      </p:sp>
      <p:sp>
        <p:nvSpPr>
          <p:cNvPr id="12" name="obj-109"/>
          <p:cNvSpPr txBox="1"/>
          <p:nvPr/>
        </p:nvSpPr>
        <p:spPr>
          <a:xfrm>
            <a:off x="8001000" y="2377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Área de protección mínima en cada lado</a:t>
            </a:r>
            <a:endParaRPr lang="en-US" sz="1600" dirty="0"/>
          </a:p>
        </p:txBody>
      </p:sp>
      <p:sp>
        <p:nvSpPr>
          <p:cNvPr id="13" name="obj-110"/>
          <p:cNvSpPr/>
          <p:nvPr/>
        </p:nvSpPr>
        <p:spPr>
          <a:xfrm>
            <a:off x="6400800" y="3063240"/>
            <a:ext cx="512064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4" name="obj-111"/>
          <p:cNvSpPr txBox="1"/>
          <p:nvPr/>
        </p:nvSpPr>
        <p:spPr>
          <a:xfrm>
            <a:off x="6400800" y="3227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X</a:t>
            </a:r>
            <a:endParaRPr lang="en-US" sz="3200" dirty="0"/>
          </a:p>
        </p:txBody>
      </p:sp>
      <p:sp>
        <p:nvSpPr>
          <p:cNvPr id="15" name="obj-112"/>
          <p:cNvSpPr txBox="1"/>
          <p:nvPr/>
        </p:nvSpPr>
        <p:spPr>
          <a:xfrm>
            <a:off x="8001000" y="3246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Altura de la palabra REVOTO</a:t>
            </a:r>
            <a:endParaRPr lang="en-US" sz="1600" dirty="0"/>
          </a:p>
        </p:txBody>
      </p:sp>
      <p:sp>
        <p:nvSpPr>
          <p:cNvPr id="16" name="obj-113"/>
          <p:cNvSpPr/>
          <p:nvPr/>
        </p:nvSpPr>
        <p:spPr>
          <a:xfrm>
            <a:off x="6400800" y="3931920"/>
            <a:ext cx="512064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7" name="obj-114"/>
          <p:cNvSpPr txBox="1"/>
          <p:nvPr/>
        </p:nvSpPr>
        <p:spPr>
          <a:xfrm>
            <a:off x="6400800" y="4096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0.2X</a:t>
            </a:r>
            <a:endParaRPr lang="en-US" sz="3200" dirty="0"/>
          </a:p>
        </p:txBody>
      </p:sp>
      <p:sp>
        <p:nvSpPr>
          <p:cNvPr id="18" name="obj-115"/>
          <p:cNvSpPr txBox="1"/>
          <p:nvPr/>
        </p:nvSpPr>
        <p:spPr>
          <a:xfrm>
            <a:off x="8001000" y="4114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Separación fija entre isotipo y palabra</a:t>
            </a:r>
            <a:endParaRPr lang="en-US" sz="1600" dirty="0"/>
          </a:p>
        </p:txBody>
      </p:sp>
      <p:sp>
        <p:nvSpPr>
          <p:cNvPr id="19" name="obj-116"/>
          <p:cNvSpPr/>
          <p:nvPr/>
        </p:nvSpPr>
        <p:spPr>
          <a:xfrm>
            <a:off x="6400800" y="4800600"/>
            <a:ext cx="512064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20" name="obj-117"/>
          <p:cNvSpPr txBox="1"/>
          <p:nvPr/>
        </p:nvSpPr>
        <p:spPr>
          <a:xfrm>
            <a:off x="6400800" y="49651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6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: 1</a:t>
            </a:r>
            <a:endParaRPr lang="en-US" sz="3200" dirty="0"/>
          </a:p>
        </p:txBody>
      </p:sp>
      <p:sp>
        <p:nvSpPr>
          <p:cNvPr id="21" name="obj-118"/>
          <p:cNvSpPr txBox="1"/>
          <p:nvPr/>
        </p:nvSpPr>
        <p:spPr>
          <a:xfrm>
            <a:off x="8001000" y="4983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Proporción de alto: isotipo / palabra</a:t>
            </a:r>
            <a:endParaRPr lang="en-US" sz="1600" dirty="0"/>
          </a:p>
        </p:txBody>
      </p:sp>
      <p:sp>
        <p:nvSpPr>
          <p:cNvPr id="22" name="obj-119"/>
          <p:cNvSpPr/>
          <p:nvPr/>
        </p:nvSpPr>
        <p:spPr>
          <a:xfrm>
            <a:off x="6400800" y="5669280"/>
            <a:ext cx="512064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2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TAMAÑOS MÍNIMOS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Legible en cualquier escala</a:t>
            </a:r>
            <a:endParaRPr lang="en-US" sz="3600" dirty="0"/>
          </a:p>
        </p:txBody>
      </p:sp>
      <p:sp>
        <p:nvSpPr>
          <p:cNvPr id="5" name="obj-120"/>
          <p:cNvSpPr/>
          <p:nvPr/>
        </p:nvSpPr>
        <p:spPr>
          <a:xfrm>
            <a:off x="685800" y="1965960"/>
            <a:ext cx="3456432" cy="3429000"/>
          </a:xfrm>
          <a:prstGeom prst="roundRect">
            <a:avLst>
              <a:gd name="adj" fmla="val 10667"/>
            </a:avLst>
          </a:prstGeom>
          <a:ln w="12700">
            <a:solidFill>
              <a:srgbClr val="34354A"/>
            </a:solidFill>
            <a:prstDash val="solid"/>
          </a:ln>
        </p:spPr>
      </p:sp>
      <p:pic>
        <p:nvPicPr>
          <p:cNvPr id="6" name="obj-121" descr="Logo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89079"/>
            <a:ext cx="822960" cy="502502"/>
          </a:xfrm>
          <a:prstGeom prst="rect">
            <a:avLst/>
          </a:prstGeom>
        </p:spPr>
      </p:pic>
      <p:sp>
        <p:nvSpPr>
          <p:cNvPr id="7" name="obj-122"/>
          <p:cNvSpPr txBox="1"/>
          <p:nvPr/>
        </p:nvSpPr>
        <p:spPr>
          <a:xfrm>
            <a:off x="1051560" y="315468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Logotipo</a:t>
            </a:r>
            <a:endParaRPr lang="en-US" sz="1700" dirty="0"/>
          </a:p>
        </p:txBody>
      </p:sp>
      <p:sp>
        <p:nvSpPr>
          <p:cNvPr id="8" name="obj-123"/>
          <p:cNvSpPr txBox="1"/>
          <p:nvPr/>
        </p:nvSpPr>
        <p:spPr>
          <a:xfrm>
            <a:off x="105156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96 px</a:t>
            </a:r>
            <a:endParaRPr lang="en-US" sz="3200" dirty="0"/>
          </a:p>
        </p:txBody>
      </p:sp>
      <p:sp>
        <p:nvSpPr>
          <p:cNvPr id="9" name="obj-124"/>
          <p:cNvSpPr txBox="1"/>
          <p:nvPr/>
        </p:nvSpPr>
        <p:spPr>
          <a:xfrm>
            <a:off x="256032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25 mm</a:t>
            </a:r>
            <a:endParaRPr lang="en-US" sz="3200" dirty="0"/>
          </a:p>
        </p:txBody>
      </p:sp>
      <p:sp>
        <p:nvSpPr>
          <p:cNvPr id="10" name="obj-125"/>
          <p:cNvSpPr txBox="1"/>
          <p:nvPr/>
        </p:nvSpPr>
        <p:spPr>
          <a:xfrm>
            <a:off x="105156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Digital</a:t>
            </a:r>
            <a:endParaRPr lang="en-US" sz="1200" dirty="0"/>
          </a:p>
        </p:txBody>
      </p:sp>
      <p:sp>
        <p:nvSpPr>
          <p:cNvPr id="11" name="obj-126"/>
          <p:cNvSpPr txBox="1"/>
          <p:nvPr/>
        </p:nvSpPr>
        <p:spPr>
          <a:xfrm>
            <a:off x="256032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Impreso</a:t>
            </a:r>
            <a:endParaRPr lang="en-US" sz="1200" dirty="0"/>
          </a:p>
        </p:txBody>
      </p:sp>
      <p:sp>
        <p:nvSpPr>
          <p:cNvPr id="12" name="obj-127"/>
          <p:cNvSpPr/>
          <p:nvPr/>
        </p:nvSpPr>
        <p:spPr>
          <a:xfrm>
            <a:off x="4370832" y="1965960"/>
            <a:ext cx="3456432" cy="3429000"/>
          </a:xfrm>
          <a:prstGeom prst="roundRect">
            <a:avLst>
              <a:gd name="adj" fmla="val 10667"/>
            </a:avLst>
          </a:prstGeom>
          <a:ln w="12700">
            <a:solidFill>
              <a:srgbClr val="34354A"/>
            </a:solidFill>
            <a:prstDash val="solid"/>
          </a:ln>
        </p:spPr>
      </p:sp>
      <p:pic>
        <p:nvPicPr>
          <p:cNvPr id="13" name="obj-128" descr="Isotip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43" y="2331720"/>
            <a:ext cx="249907" cy="219456"/>
          </a:xfrm>
          <a:prstGeom prst="rect">
            <a:avLst/>
          </a:prstGeom>
        </p:spPr>
      </p:pic>
      <p:sp>
        <p:nvSpPr>
          <p:cNvPr id="14" name="obj-129"/>
          <p:cNvSpPr txBox="1"/>
          <p:nvPr/>
        </p:nvSpPr>
        <p:spPr>
          <a:xfrm>
            <a:off x="4736592" y="315468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Isotipo</a:t>
            </a:r>
            <a:endParaRPr lang="en-US" sz="1700" dirty="0"/>
          </a:p>
        </p:txBody>
      </p:sp>
      <p:sp>
        <p:nvSpPr>
          <p:cNvPr id="15" name="obj-130"/>
          <p:cNvSpPr txBox="1"/>
          <p:nvPr/>
        </p:nvSpPr>
        <p:spPr>
          <a:xfrm>
            <a:off x="4736592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 px</a:t>
            </a:r>
            <a:endParaRPr lang="en-US" sz="3200" dirty="0"/>
          </a:p>
        </p:txBody>
      </p:sp>
      <p:sp>
        <p:nvSpPr>
          <p:cNvPr id="16" name="obj-131"/>
          <p:cNvSpPr txBox="1"/>
          <p:nvPr/>
        </p:nvSpPr>
        <p:spPr>
          <a:xfrm>
            <a:off x="6245352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 mm</a:t>
            </a:r>
            <a:endParaRPr lang="en-US" sz="3200" dirty="0"/>
          </a:p>
        </p:txBody>
      </p:sp>
      <p:sp>
        <p:nvSpPr>
          <p:cNvPr id="17" name="obj-132"/>
          <p:cNvSpPr txBox="1"/>
          <p:nvPr/>
        </p:nvSpPr>
        <p:spPr>
          <a:xfrm>
            <a:off x="4736592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Digital</a:t>
            </a:r>
            <a:endParaRPr lang="en-US" sz="1200" dirty="0"/>
          </a:p>
        </p:txBody>
      </p:sp>
      <p:sp>
        <p:nvSpPr>
          <p:cNvPr id="18" name="obj-133"/>
          <p:cNvSpPr txBox="1"/>
          <p:nvPr/>
        </p:nvSpPr>
        <p:spPr>
          <a:xfrm>
            <a:off x="6245352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Impreso</a:t>
            </a:r>
            <a:endParaRPr lang="en-US" sz="1200" dirty="0"/>
          </a:p>
        </p:txBody>
      </p:sp>
      <p:sp>
        <p:nvSpPr>
          <p:cNvPr id="19" name="obj-134"/>
          <p:cNvSpPr/>
          <p:nvPr/>
        </p:nvSpPr>
        <p:spPr>
          <a:xfrm>
            <a:off x="8055864" y="1965960"/>
            <a:ext cx="3456432" cy="3429000"/>
          </a:xfrm>
          <a:prstGeom prst="roundRect">
            <a:avLst>
              <a:gd name="adj" fmla="val 10667"/>
            </a:avLst>
          </a:prstGeom>
          <a:ln w="12700">
            <a:solidFill>
              <a:srgbClr val="34354A"/>
            </a:solidFill>
            <a:prstDash val="solid"/>
          </a:ln>
        </p:spPr>
      </p:sp>
      <p:pic>
        <p:nvPicPr>
          <p:cNvPr id="20" name="obj-135" descr="Ícono de 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2331720"/>
            <a:ext cx="246888" cy="246888"/>
          </a:xfrm>
          <a:prstGeom prst="rect">
            <a:avLst/>
          </a:prstGeom>
        </p:spPr>
      </p:pic>
      <p:sp>
        <p:nvSpPr>
          <p:cNvPr id="21" name="obj-136"/>
          <p:cNvSpPr txBox="1"/>
          <p:nvPr/>
        </p:nvSpPr>
        <p:spPr>
          <a:xfrm>
            <a:off x="8421624" y="315468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Ícono de app</a:t>
            </a:r>
            <a:endParaRPr lang="en-US" sz="1700" dirty="0"/>
          </a:p>
        </p:txBody>
      </p:sp>
      <p:sp>
        <p:nvSpPr>
          <p:cNvPr id="22" name="obj-137"/>
          <p:cNvSpPr txBox="1"/>
          <p:nvPr/>
        </p:nvSpPr>
        <p:spPr>
          <a:xfrm>
            <a:off x="8421624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32 px</a:t>
            </a:r>
            <a:endParaRPr lang="en-US" sz="3200" dirty="0"/>
          </a:p>
        </p:txBody>
      </p:sp>
      <p:sp>
        <p:nvSpPr>
          <p:cNvPr id="23" name="obj-138"/>
          <p:cNvSpPr txBox="1"/>
          <p:nvPr/>
        </p:nvSpPr>
        <p:spPr>
          <a:xfrm>
            <a:off x="9930384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16 px favicon</a:t>
            </a:r>
            <a:endParaRPr lang="en-US" sz="1500" dirty="0"/>
          </a:p>
        </p:txBody>
      </p:sp>
      <p:sp>
        <p:nvSpPr>
          <p:cNvPr id="24" name="obj-139"/>
          <p:cNvSpPr txBox="1"/>
          <p:nvPr/>
        </p:nvSpPr>
        <p:spPr>
          <a:xfrm>
            <a:off x="8421624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Digital</a:t>
            </a:r>
            <a:endParaRPr lang="en-US" sz="1200" dirty="0"/>
          </a:p>
        </p:txBody>
      </p:sp>
      <p:sp>
        <p:nvSpPr>
          <p:cNvPr id="25" name="obj-140"/>
          <p:cNvSpPr txBox="1"/>
          <p:nvPr/>
        </p:nvSpPr>
        <p:spPr>
          <a:xfrm>
            <a:off x="9930384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Mínimo absoluto</a:t>
            </a:r>
            <a:endParaRPr lang="en-US" sz="1200" dirty="0"/>
          </a:p>
        </p:txBody>
      </p:sp>
      <p:sp>
        <p:nvSpPr>
          <p:cNvPr id="26" name="obj-141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debajo de 96 px usa el isotipo solo. La palabra REVOTO nunca va sola: siempre con su isotipo.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Dónde sí puede vivir</a:t>
            </a:r>
            <a:endParaRPr lang="en-US" sz="3600" dirty="0"/>
          </a:p>
        </p:txBody>
      </p:sp>
      <p:sp>
        <p:nvSpPr>
          <p:cNvPr id="4" name="obj-142"/>
          <p:cNvSpPr/>
          <p:nvPr/>
        </p:nvSpPr>
        <p:spPr>
          <a:xfrm>
            <a:off x="685800" y="1874520"/>
            <a:ext cx="2542032" cy="2697480"/>
          </a:xfrm>
          <a:prstGeom prst="roundRect">
            <a:avLst>
              <a:gd name="adj" fmla="val 14388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5" name="obj-143" descr="Logotipo sobre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98424"/>
            <a:ext cx="1719072" cy="1049671"/>
          </a:xfrm>
          <a:prstGeom prst="rect">
            <a:avLst/>
          </a:prstGeom>
        </p:spPr>
      </p:pic>
      <p:sp>
        <p:nvSpPr>
          <p:cNvPr id="6" name="obj-144"/>
          <p:cNvSpPr txBox="1"/>
          <p:nvPr/>
        </p:nvSpPr>
        <p:spPr>
          <a:xfrm>
            <a:off x="685800" y="47548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Sobre papel</a:t>
            </a:r>
            <a:endParaRPr lang="en-US" sz="1900" dirty="0"/>
          </a:p>
        </p:txBody>
      </p:sp>
      <p:sp>
        <p:nvSpPr>
          <p:cNvPr id="7" name="obj-145"/>
          <p:cNvSpPr txBox="1"/>
          <p:nvPr/>
        </p:nvSpPr>
        <p:spPr>
          <a:xfrm>
            <a:off x="685800" y="5166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Principal · palabra 17.6:1</a:t>
            </a:r>
            <a:endParaRPr lang="en-US" sz="1400" dirty="0"/>
          </a:p>
        </p:txBody>
      </p:sp>
      <p:sp>
        <p:nvSpPr>
          <p:cNvPr id="8" name="obj-146"/>
          <p:cNvSpPr/>
          <p:nvPr/>
        </p:nvSpPr>
        <p:spPr>
          <a:xfrm>
            <a:off x="3410712" y="1874520"/>
            <a:ext cx="2542032" cy="2697480"/>
          </a:xfrm>
          <a:prstGeom prst="roundRect">
            <a:avLst>
              <a:gd name="adj" fmla="val 14388"/>
            </a:avLst>
          </a:prstGeom>
          <a:solidFill>
            <a:srgbClr val="171824"/>
          </a:solidFill>
          <a:ln w="12700">
            <a:solidFill>
              <a:srgbClr val="171824"/>
            </a:solidFill>
            <a:prstDash val="solid"/>
          </a:ln>
        </p:spPr>
      </p:sp>
      <p:pic>
        <p:nvPicPr>
          <p:cNvPr id="9" name="obj-147" descr="Logotipo sobre ti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698424"/>
            <a:ext cx="1719072" cy="1049671"/>
          </a:xfrm>
          <a:prstGeom prst="rect">
            <a:avLst/>
          </a:prstGeom>
        </p:spPr>
      </p:pic>
      <p:sp>
        <p:nvSpPr>
          <p:cNvPr id="10" name="obj-148"/>
          <p:cNvSpPr txBox="1"/>
          <p:nvPr/>
        </p:nvSpPr>
        <p:spPr>
          <a:xfrm>
            <a:off x="3410712" y="47548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Sobre tinta</a:t>
            </a:r>
            <a:endParaRPr lang="en-US" sz="1900" dirty="0"/>
          </a:p>
        </p:txBody>
      </p:sp>
      <p:sp>
        <p:nvSpPr>
          <p:cNvPr id="11" name="obj-149"/>
          <p:cNvSpPr txBox="1"/>
          <p:nvPr/>
        </p:nvSpPr>
        <p:spPr>
          <a:xfrm>
            <a:off x="3410712" y="5166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Ícono, redes y presentaciones</a:t>
            </a:r>
            <a:endParaRPr lang="en-US" sz="1400" dirty="0"/>
          </a:p>
        </p:txBody>
      </p:sp>
      <p:sp>
        <p:nvSpPr>
          <p:cNvPr id="12" name="obj-150"/>
          <p:cNvSpPr/>
          <p:nvPr/>
        </p:nvSpPr>
        <p:spPr>
          <a:xfrm>
            <a:off x="6135624" y="1874520"/>
            <a:ext cx="2542032" cy="2697480"/>
          </a:xfrm>
          <a:prstGeom prst="roundRect">
            <a:avLst>
              <a:gd name="adj" fmla="val 14388"/>
            </a:avLst>
          </a:prstGeom>
          <a:solidFill>
            <a:srgbClr val="FBF7F8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13" name="obj-151" descr="Logotipo sobre fon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698424"/>
            <a:ext cx="1719072" cy="1049671"/>
          </a:xfrm>
          <a:prstGeom prst="rect">
            <a:avLst/>
          </a:prstGeom>
        </p:spPr>
      </p:pic>
      <p:sp>
        <p:nvSpPr>
          <p:cNvPr id="14" name="obj-152"/>
          <p:cNvSpPr txBox="1"/>
          <p:nvPr/>
        </p:nvSpPr>
        <p:spPr>
          <a:xfrm>
            <a:off x="6135624" y="47548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Sobre fondo</a:t>
            </a:r>
            <a:endParaRPr lang="en-US" sz="1900" dirty="0"/>
          </a:p>
        </p:txBody>
      </p:sp>
      <p:sp>
        <p:nvSpPr>
          <p:cNvPr id="15" name="obj-153"/>
          <p:cNvSpPr txBox="1"/>
          <p:nvPr/>
        </p:nvSpPr>
        <p:spPr>
          <a:xfrm>
            <a:off x="6135624" y="5166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Pantallas de la app</a:t>
            </a:r>
            <a:endParaRPr lang="en-US" sz="1400" dirty="0"/>
          </a:p>
        </p:txBody>
      </p:sp>
      <p:sp>
        <p:nvSpPr>
          <p:cNvPr id="16" name="obj-154"/>
          <p:cNvSpPr/>
          <p:nvPr/>
        </p:nvSpPr>
        <p:spPr>
          <a:xfrm>
            <a:off x="8860536" y="1874520"/>
            <a:ext cx="2542032" cy="2697480"/>
          </a:xfrm>
          <a:prstGeom prst="roundRect">
            <a:avLst>
              <a:gd name="adj" fmla="val 14388"/>
            </a:avLst>
          </a:prstGeom>
          <a:solidFill>
            <a:srgbClr val="5D1B6D"/>
          </a:solidFill>
          <a:ln w="12700">
            <a:solidFill>
              <a:srgbClr val="5D1B6D"/>
            </a:solidFill>
            <a:prstDash val="solid"/>
          </a:ln>
        </p:spPr>
      </p:sp>
      <p:pic>
        <p:nvPicPr>
          <p:cNvPr id="17" name="obj-155" descr="Logotipo sobre uv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698424"/>
            <a:ext cx="1719072" cy="1049671"/>
          </a:xfrm>
          <a:prstGeom prst="rect">
            <a:avLst/>
          </a:prstGeom>
        </p:spPr>
      </p:pic>
      <p:sp>
        <p:nvSpPr>
          <p:cNvPr id="18" name="obj-156"/>
          <p:cNvSpPr txBox="1"/>
          <p:nvPr/>
        </p:nvSpPr>
        <p:spPr>
          <a:xfrm>
            <a:off x="8860536" y="47548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Sobre uva</a:t>
            </a:r>
            <a:endParaRPr lang="en-US" sz="1900" dirty="0"/>
          </a:p>
        </p:txBody>
      </p:sp>
      <p:sp>
        <p:nvSpPr>
          <p:cNvPr id="19" name="obj-157"/>
          <p:cNvSpPr txBox="1"/>
          <p:nvPr/>
        </p:nvSpPr>
        <p:spPr>
          <a:xfrm>
            <a:off x="8860536" y="51663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Piezas de acento</a:t>
            </a:r>
            <a:endParaRPr lang="en-US" sz="1400" dirty="0"/>
          </a:p>
        </p:txBody>
      </p:sp>
      <p:sp>
        <p:nvSpPr>
          <p:cNvPr id="20" name="obj-158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sobre magenta: la tarjeta superior del isotipo desaparece.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USOS INCORRECTOS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 que nunca hacemos</a:t>
            </a:r>
            <a:endParaRPr lang="en-US" sz="3600" dirty="0"/>
          </a:p>
        </p:txBody>
      </p:sp>
      <p:sp>
        <p:nvSpPr>
          <p:cNvPr id="4" name="obj-159"/>
          <p:cNvSpPr/>
          <p:nvPr/>
        </p:nvSpPr>
        <p:spPr>
          <a:xfrm>
            <a:off x="685800" y="1828800"/>
            <a:ext cx="3456432" cy="146304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5" name="obj-160" descr="No deformar ni estir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15923"/>
            <a:ext cx="1627632" cy="688795"/>
          </a:xfrm>
          <a:prstGeom prst="rect">
            <a:avLst/>
          </a:prstGeom>
        </p:spPr>
      </p:pic>
      <p:sp>
        <p:nvSpPr>
          <p:cNvPr id="6" name="obj-161"/>
          <p:cNvSpPr txBox="1"/>
          <p:nvPr/>
        </p:nvSpPr>
        <p:spPr>
          <a:xfrm>
            <a:off x="685800" y="34015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deformar ni estirar</a:t>
            </a:r>
            <a:endParaRPr lang="en-US" sz="1600" dirty="0"/>
          </a:p>
        </p:txBody>
      </p:sp>
      <p:sp>
        <p:nvSpPr>
          <p:cNvPr id="7" name="obj-162"/>
          <p:cNvSpPr/>
          <p:nvPr/>
        </p:nvSpPr>
        <p:spPr>
          <a:xfrm>
            <a:off x="4370832" y="1828800"/>
            <a:ext cx="3456432" cy="146304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8" name="obj-163" descr="No ro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393" y="2011680"/>
            <a:ext cx="1145309" cy="1097280"/>
          </a:xfrm>
          <a:prstGeom prst="rect">
            <a:avLst/>
          </a:prstGeom>
        </p:spPr>
      </p:pic>
      <p:sp>
        <p:nvSpPr>
          <p:cNvPr id="9" name="obj-164"/>
          <p:cNvSpPr txBox="1"/>
          <p:nvPr/>
        </p:nvSpPr>
        <p:spPr>
          <a:xfrm>
            <a:off x="4370832" y="34015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rotar</a:t>
            </a:r>
            <a:endParaRPr lang="en-US" sz="1600" dirty="0"/>
          </a:p>
        </p:txBody>
      </p:sp>
      <p:sp>
        <p:nvSpPr>
          <p:cNvPr id="10" name="obj-165"/>
          <p:cNvSpPr/>
          <p:nvPr/>
        </p:nvSpPr>
        <p:spPr>
          <a:xfrm>
            <a:off x="8055864" y="1828800"/>
            <a:ext cx="3456432" cy="146304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11" name="obj-166" descr="No cambiar los colo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313" y="2011680"/>
            <a:ext cx="1249534" cy="1097280"/>
          </a:xfrm>
          <a:prstGeom prst="rect">
            <a:avLst/>
          </a:prstGeom>
        </p:spPr>
      </p:pic>
      <p:sp>
        <p:nvSpPr>
          <p:cNvPr id="12" name="obj-167"/>
          <p:cNvSpPr txBox="1"/>
          <p:nvPr/>
        </p:nvSpPr>
        <p:spPr>
          <a:xfrm>
            <a:off x="8055864" y="34015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cambiar los colores</a:t>
            </a:r>
            <a:endParaRPr lang="en-US" sz="1600" dirty="0"/>
          </a:p>
        </p:txBody>
      </p:sp>
      <p:sp>
        <p:nvSpPr>
          <p:cNvPr id="13" name="obj-168"/>
          <p:cNvSpPr/>
          <p:nvPr/>
        </p:nvSpPr>
        <p:spPr>
          <a:xfrm>
            <a:off x="685800" y="3931920"/>
            <a:ext cx="3456432" cy="1463040"/>
          </a:xfrm>
          <a:prstGeom prst="roundRect">
            <a:avLst>
              <a:gd name="adj" fmla="val 18750"/>
            </a:avLst>
          </a:prstGeom>
          <a:solidFill>
            <a:srgbClr val="FF2D94"/>
          </a:solidFill>
          <a:ln w="12700">
            <a:solidFill>
              <a:srgbClr val="FF2D94"/>
            </a:solidFill>
            <a:prstDash val="solid"/>
          </a:ln>
        </p:spPr>
      </p:sp>
      <p:pic>
        <p:nvPicPr>
          <p:cNvPr id="14" name="obj-169" descr="No colocar sobre magen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249" y="4114800"/>
            <a:ext cx="1249534" cy="1097280"/>
          </a:xfrm>
          <a:prstGeom prst="rect">
            <a:avLst/>
          </a:prstGeom>
        </p:spPr>
      </p:pic>
      <p:sp>
        <p:nvSpPr>
          <p:cNvPr id="15" name="obj-170"/>
          <p:cNvSpPr txBox="1"/>
          <p:nvPr/>
        </p:nvSpPr>
        <p:spPr>
          <a:xfrm>
            <a:off x="685800" y="550468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colocar sobre magenta</a:t>
            </a:r>
            <a:endParaRPr lang="en-US" sz="1600" dirty="0"/>
          </a:p>
        </p:txBody>
      </p:sp>
      <p:sp>
        <p:nvSpPr>
          <p:cNvPr id="16" name="obj-171"/>
          <p:cNvSpPr/>
          <p:nvPr/>
        </p:nvSpPr>
        <p:spPr>
          <a:xfrm>
            <a:off x="4370832" y="3931920"/>
            <a:ext cx="3456432" cy="146304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17" name="obj-172" descr="No aplicar sombras ni efect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354" y="4114800"/>
            <a:ext cx="1207388" cy="1097280"/>
          </a:xfrm>
          <a:prstGeom prst="rect">
            <a:avLst/>
          </a:prstGeom>
        </p:spPr>
      </p:pic>
      <p:sp>
        <p:nvSpPr>
          <p:cNvPr id="18" name="obj-173"/>
          <p:cNvSpPr txBox="1"/>
          <p:nvPr/>
        </p:nvSpPr>
        <p:spPr>
          <a:xfrm>
            <a:off x="4370832" y="550468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aplicar sombras ni efectos</a:t>
            </a:r>
            <a:endParaRPr lang="en-US" sz="1600" dirty="0"/>
          </a:p>
        </p:txBody>
      </p:sp>
      <p:sp>
        <p:nvSpPr>
          <p:cNvPr id="19" name="obj-174"/>
          <p:cNvSpPr/>
          <p:nvPr/>
        </p:nvSpPr>
        <p:spPr>
          <a:xfrm>
            <a:off x="8055864" y="3931920"/>
            <a:ext cx="3456432" cy="146304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pic>
        <p:nvPicPr>
          <p:cNvPr id="20" name="obj-175" descr="No separar las capa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8666" y="4114800"/>
            <a:ext cx="970828" cy="1097280"/>
          </a:xfrm>
          <a:prstGeom prst="rect">
            <a:avLst/>
          </a:prstGeom>
        </p:spPr>
      </p:pic>
      <p:sp>
        <p:nvSpPr>
          <p:cNvPr id="21" name="obj-176"/>
          <p:cNvSpPr txBox="1"/>
          <p:nvPr/>
        </p:nvSpPr>
        <p:spPr>
          <a:xfrm>
            <a:off x="8055864" y="550468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separar las capas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766560" y="320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EB1C8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4343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Color y tipografía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paleta, sus proporciones y las familias tipográficas.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COLORES PRINCIPALES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Tinta, papel y un golpe de magenta</a:t>
            </a:r>
            <a:endParaRPr lang="en-US" sz="3600" dirty="0"/>
          </a:p>
        </p:txBody>
      </p:sp>
      <p:sp>
        <p:nvSpPr>
          <p:cNvPr id="5" name="obj-177"/>
          <p:cNvSpPr/>
          <p:nvPr/>
        </p:nvSpPr>
        <p:spPr>
          <a:xfrm>
            <a:off x="685800" y="1783080"/>
            <a:ext cx="4937760" cy="3291840"/>
          </a:xfrm>
          <a:prstGeom prst="roundRect">
            <a:avLst>
              <a:gd name="adj" fmla="val 11111"/>
            </a:avLst>
          </a:prstGeom>
          <a:solidFill>
            <a:srgbClr val="171824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6" name="obj-178"/>
          <p:cNvSpPr txBox="1"/>
          <p:nvPr/>
        </p:nvSpPr>
        <p:spPr>
          <a:xfrm>
            <a:off x="105156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Tinta</a:t>
            </a:r>
            <a:endParaRPr lang="en-US" sz="2800" dirty="0"/>
          </a:p>
        </p:txBody>
      </p:sp>
      <p:sp>
        <p:nvSpPr>
          <p:cNvPr id="7" name="obj-179"/>
          <p:cNvSpPr txBox="1"/>
          <p:nvPr/>
        </p:nvSpPr>
        <p:spPr>
          <a:xfrm>
            <a:off x="105156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HEX #171824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 23 24 36</a:t>
            </a:r>
            <a:endParaRPr lang="en-US" sz="1300" dirty="0"/>
          </a:p>
        </p:txBody>
      </p:sp>
      <p:sp>
        <p:nvSpPr>
          <p:cNvPr id="8" name="obj-180"/>
          <p:cNvSpPr txBox="1"/>
          <p:nvPr/>
        </p:nvSpPr>
        <p:spPr>
          <a:xfrm>
            <a:off x="1051560" y="4434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Texto, acciones y fondos oscuros</a:t>
            </a:r>
            <a:endParaRPr lang="en-US" sz="1300" dirty="0"/>
          </a:p>
        </p:txBody>
      </p:sp>
      <p:sp>
        <p:nvSpPr>
          <p:cNvPr id="9" name="obj-181"/>
          <p:cNvSpPr/>
          <p:nvPr/>
        </p:nvSpPr>
        <p:spPr>
          <a:xfrm>
            <a:off x="5806440" y="1783080"/>
            <a:ext cx="2834640" cy="32918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10" name="obj-182"/>
          <p:cNvSpPr txBox="1"/>
          <p:nvPr/>
        </p:nvSpPr>
        <p:spPr>
          <a:xfrm>
            <a:off x="617220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Papel</a:t>
            </a:r>
            <a:endParaRPr lang="en-US" sz="2800" dirty="0"/>
          </a:p>
        </p:txBody>
      </p:sp>
      <p:sp>
        <p:nvSpPr>
          <p:cNvPr id="11" name="obj-183"/>
          <p:cNvSpPr txBox="1"/>
          <p:nvPr/>
        </p:nvSpPr>
        <p:spPr>
          <a:xfrm>
            <a:off x="61722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HEX #FFFFFF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 255 255 255</a:t>
            </a:r>
            <a:endParaRPr lang="en-US" sz="1300" dirty="0"/>
          </a:p>
        </p:txBody>
      </p:sp>
      <p:sp>
        <p:nvSpPr>
          <p:cNvPr id="12" name="obj-184"/>
          <p:cNvSpPr txBox="1"/>
          <p:nvPr/>
        </p:nvSpPr>
        <p:spPr>
          <a:xfrm>
            <a:off x="61722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Pantallas y tarjetas</a:t>
            </a:r>
            <a:endParaRPr lang="en-US" sz="1300" dirty="0"/>
          </a:p>
        </p:txBody>
      </p:sp>
      <p:sp>
        <p:nvSpPr>
          <p:cNvPr id="13" name="obj-185"/>
          <p:cNvSpPr/>
          <p:nvPr/>
        </p:nvSpPr>
        <p:spPr>
          <a:xfrm>
            <a:off x="8823960" y="1783080"/>
            <a:ext cx="2679192" cy="3291840"/>
          </a:xfrm>
          <a:prstGeom prst="roundRect">
            <a:avLst>
              <a:gd name="adj" fmla="val 13652"/>
            </a:avLst>
          </a:prstGeom>
          <a:solidFill>
            <a:srgbClr val="FF2D94"/>
          </a:solidFill>
          <a:ln w="12700">
            <a:solidFill>
              <a:srgbClr val="FF2D94"/>
            </a:solidFill>
            <a:prstDash val="solid"/>
          </a:ln>
        </p:spPr>
      </p:sp>
      <p:sp>
        <p:nvSpPr>
          <p:cNvPr id="14" name="obj-186"/>
          <p:cNvSpPr txBox="1"/>
          <p:nvPr/>
        </p:nvSpPr>
        <p:spPr>
          <a:xfrm>
            <a:off x="9189720" y="32461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Magenta</a:t>
            </a:r>
            <a:endParaRPr lang="en-US" sz="2800" dirty="0"/>
          </a:p>
        </p:txBody>
      </p:sp>
      <p:sp>
        <p:nvSpPr>
          <p:cNvPr id="15" name="obj-187"/>
          <p:cNvSpPr txBox="1"/>
          <p:nvPr/>
        </p:nvSpPr>
        <p:spPr>
          <a:xfrm>
            <a:off x="9189720" y="37947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HEX #FF2D94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RGB 255 45 148</a:t>
            </a:r>
            <a:endParaRPr lang="en-US" sz="1300" dirty="0"/>
          </a:p>
        </p:txBody>
      </p:sp>
      <p:sp>
        <p:nvSpPr>
          <p:cNvPr id="16" name="obj-188"/>
          <p:cNvSpPr txBox="1"/>
          <p:nvPr/>
        </p:nvSpPr>
        <p:spPr>
          <a:xfrm>
            <a:off x="9189720" y="4434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Identidad y selección</a:t>
            </a:r>
            <a:endParaRPr lang="en-US" sz="1300" dirty="0"/>
          </a:p>
        </p:txBody>
      </p:sp>
      <p:sp>
        <p:nvSpPr>
          <p:cNvPr id="17" name="obj-189"/>
          <p:cNvSpPr/>
          <p:nvPr/>
        </p:nvSpPr>
        <p:spPr>
          <a:xfrm>
            <a:off x="685800" y="5349240"/>
            <a:ext cx="6490411" cy="384048"/>
          </a:xfrm>
          <a:prstGeom prst="rect">
            <a:avLst/>
          </a:prstGeom>
          <a:solidFill>
            <a:srgbClr val="171824"/>
          </a:solidFill>
          <a:ln w="9525">
            <a:solidFill>
              <a:srgbClr val="171824"/>
            </a:solidFill>
            <a:prstDash val="solid"/>
          </a:ln>
        </p:spPr>
      </p:sp>
      <p:sp>
        <p:nvSpPr>
          <p:cNvPr id="18" name="obj-190"/>
          <p:cNvSpPr txBox="1"/>
          <p:nvPr/>
        </p:nvSpPr>
        <p:spPr>
          <a:xfrm>
            <a:off x="868680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60 %</a:t>
            </a:r>
            <a:endParaRPr lang="en-US" sz="1300" dirty="0"/>
          </a:p>
        </p:txBody>
      </p:sp>
      <p:sp>
        <p:nvSpPr>
          <p:cNvPr id="19" name="obj-191"/>
          <p:cNvSpPr/>
          <p:nvPr/>
        </p:nvSpPr>
        <p:spPr>
          <a:xfrm>
            <a:off x="7176211" y="5349240"/>
            <a:ext cx="324520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E6"/>
            </a:solidFill>
            <a:prstDash val="solid"/>
          </a:ln>
        </p:spPr>
      </p:sp>
      <p:sp>
        <p:nvSpPr>
          <p:cNvPr id="20" name="obj-192"/>
          <p:cNvSpPr txBox="1"/>
          <p:nvPr/>
        </p:nvSpPr>
        <p:spPr>
          <a:xfrm>
            <a:off x="7359091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30 %</a:t>
            </a:r>
            <a:endParaRPr lang="en-US" sz="1300" dirty="0"/>
          </a:p>
        </p:txBody>
      </p:sp>
      <p:sp>
        <p:nvSpPr>
          <p:cNvPr id="21" name="obj-193"/>
          <p:cNvSpPr/>
          <p:nvPr/>
        </p:nvSpPr>
        <p:spPr>
          <a:xfrm>
            <a:off x="10421417" y="5349240"/>
            <a:ext cx="1081735" cy="384048"/>
          </a:xfrm>
          <a:prstGeom prst="rect">
            <a:avLst/>
          </a:prstGeom>
          <a:solidFill>
            <a:srgbClr val="FF2D94"/>
          </a:solidFill>
          <a:ln w="9525">
            <a:solidFill>
              <a:srgbClr val="FF2D94"/>
            </a:solidFill>
            <a:prstDash val="solid"/>
          </a:ln>
        </p:spPr>
      </p:sp>
      <p:sp>
        <p:nvSpPr>
          <p:cNvPr id="22" name="obj-194"/>
          <p:cNvSpPr txBox="1"/>
          <p:nvPr/>
        </p:nvSpPr>
        <p:spPr>
          <a:xfrm>
            <a:off x="10604297" y="5349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PALETA DE APOYO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familia morada da profundidad</a:t>
            </a:r>
            <a:endParaRPr lang="en-US" sz="3600" dirty="0"/>
          </a:p>
        </p:txBody>
      </p:sp>
      <p:sp>
        <p:nvSpPr>
          <p:cNvPr id="4" name="obj-195"/>
          <p:cNvSpPr/>
          <p:nvPr/>
        </p:nvSpPr>
        <p:spPr>
          <a:xfrm>
            <a:off x="685800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C8106E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5" name="obj-196"/>
          <p:cNvSpPr txBox="1"/>
          <p:nvPr/>
        </p:nvSpPr>
        <p:spPr>
          <a:xfrm>
            <a:off x="685800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#C8106E</a:t>
            </a:r>
            <a:endParaRPr lang="en-US" sz="1500" dirty="0"/>
          </a:p>
        </p:txBody>
      </p:sp>
      <p:sp>
        <p:nvSpPr>
          <p:cNvPr id="6" name="obj-197"/>
          <p:cNvSpPr txBox="1"/>
          <p:nvPr/>
        </p:nvSpPr>
        <p:spPr>
          <a:xfrm>
            <a:off x="685800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Magenta texto</a:t>
            </a:r>
            <a:endParaRPr lang="en-US" sz="1300" dirty="0"/>
          </a:p>
        </p:txBody>
      </p:sp>
      <p:sp>
        <p:nvSpPr>
          <p:cNvPr id="7" name="obj-198"/>
          <p:cNvSpPr txBox="1"/>
          <p:nvPr/>
        </p:nvSpPr>
        <p:spPr>
          <a:xfrm>
            <a:off x="685800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Magenta en texto pequeño</a:t>
            </a:r>
            <a:endParaRPr lang="en-US" sz="1200" dirty="0"/>
          </a:p>
        </p:txBody>
      </p:sp>
      <p:sp>
        <p:nvSpPr>
          <p:cNvPr id="8" name="obj-199"/>
          <p:cNvSpPr/>
          <p:nvPr/>
        </p:nvSpPr>
        <p:spPr>
          <a:xfrm>
            <a:off x="2252167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933D82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9" name="obj-200"/>
          <p:cNvSpPr txBox="1"/>
          <p:nvPr/>
        </p:nvSpPr>
        <p:spPr>
          <a:xfrm>
            <a:off x="2252167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#933D82</a:t>
            </a:r>
            <a:endParaRPr lang="en-US" sz="1500" dirty="0"/>
          </a:p>
        </p:txBody>
      </p:sp>
      <p:sp>
        <p:nvSpPr>
          <p:cNvPr id="10" name="obj-201"/>
          <p:cNvSpPr txBox="1"/>
          <p:nvPr/>
        </p:nvSpPr>
        <p:spPr>
          <a:xfrm>
            <a:off x="2252167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Ciruela</a:t>
            </a:r>
            <a:endParaRPr lang="en-US" sz="1300" dirty="0"/>
          </a:p>
        </p:txBody>
      </p:sp>
      <p:sp>
        <p:nvSpPr>
          <p:cNvPr id="11" name="obj-202"/>
          <p:cNvSpPr txBox="1"/>
          <p:nvPr/>
        </p:nvSpPr>
        <p:spPr>
          <a:xfrm>
            <a:off x="2252167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Énfasis e ilustración</a:t>
            </a:r>
            <a:endParaRPr lang="en-US" sz="1200" dirty="0"/>
          </a:p>
        </p:txBody>
      </p:sp>
      <p:sp>
        <p:nvSpPr>
          <p:cNvPr id="12" name="obj-203"/>
          <p:cNvSpPr/>
          <p:nvPr/>
        </p:nvSpPr>
        <p:spPr>
          <a:xfrm>
            <a:off x="3818534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5D1B6D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13" name="obj-204"/>
          <p:cNvSpPr txBox="1"/>
          <p:nvPr/>
        </p:nvSpPr>
        <p:spPr>
          <a:xfrm>
            <a:off x="3818534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#5D1B6D</a:t>
            </a:r>
            <a:endParaRPr lang="en-US" sz="1500" dirty="0"/>
          </a:p>
        </p:txBody>
      </p:sp>
      <p:sp>
        <p:nvSpPr>
          <p:cNvPr id="14" name="obj-205"/>
          <p:cNvSpPr txBox="1"/>
          <p:nvPr/>
        </p:nvSpPr>
        <p:spPr>
          <a:xfrm>
            <a:off x="3818534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Uva</a:t>
            </a:r>
            <a:endParaRPr lang="en-US" sz="1300" dirty="0"/>
          </a:p>
        </p:txBody>
      </p:sp>
      <p:sp>
        <p:nvSpPr>
          <p:cNvPr id="15" name="obj-206"/>
          <p:cNvSpPr txBox="1"/>
          <p:nvPr/>
        </p:nvSpPr>
        <p:spPr>
          <a:xfrm>
            <a:off x="3818534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Serie presidencial</a:t>
            </a:r>
            <a:endParaRPr lang="en-US" sz="1200" dirty="0"/>
          </a:p>
        </p:txBody>
      </p:sp>
      <p:sp>
        <p:nvSpPr>
          <p:cNvPr id="16" name="obj-207"/>
          <p:cNvSpPr/>
          <p:nvPr/>
        </p:nvSpPr>
        <p:spPr>
          <a:xfrm>
            <a:off x="5384902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FFE3F1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17" name="obj-208"/>
          <p:cNvSpPr txBox="1"/>
          <p:nvPr/>
        </p:nvSpPr>
        <p:spPr>
          <a:xfrm>
            <a:off x="5384902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#FFE3F1</a:t>
            </a:r>
            <a:endParaRPr lang="en-US" sz="1500" dirty="0"/>
          </a:p>
        </p:txBody>
      </p:sp>
      <p:sp>
        <p:nvSpPr>
          <p:cNvPr id="18" name="obj-209"/>
          <p:cNvSpPr txBox="1"/>
          <p:nvPr/>
        </p:nvSpPr>
        <p:spPr>
          <a:xfrm>
            <a:off x="5384902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Rosa claro</a:t>
            </a:r>
            <a:endParaRPr lang="en-US" sz="1300" dirty="0"/>
          </a:p>
        </p:txBody>
      </p:sp>
      <p:sp>
        <p:nvSpPr>
          <p:cNvPr id="19" name="obj-210"/>
          <p:cNvSpPr txBox="1"/>
          <p:nvPr/>
        </p:nvSpPr>
        <p:spPr>
          <a:xfrm>
            <a:off x="5384902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Selección</a:t>
            </a:r>
            <a:endParaRPr lang="en-US" sz="1200" dirty="0"/>
          </a:p>
        </p:txBody>
      </p:sp>
      <p:sp>
        <p:nvSpPr>
          <p:cNvPr id="20" name="obj-211"/>
          <p:cNvSpPr/>
          <p:nvPr/>
        </p:nvSpPr>
        <p:spPr>
          <a:xfrm>
            <a:off x="6951269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FBF7F8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21" name="obj-212"/>
          <p:cNvSpPr txBox="1"/>
          <p:nvPr/>
        </p:nvSpPr>
        <p:spPr>
          <a:xfrm>
            <a:off x="6951269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#FBF7F8</a:t>
            </a:r>
            <a:endParaRPr lang="en-US" sz="1500" dirty="0"/>
          </a:p>
        </p:txBody>
      </p:sp>
      <p:sp>
        <p:nvSpPr>
          <p:cNvPr id="22" name="obj-213"/>
          <p:cNvSpPr txBox="1"/>
          <p:nvPr/>
        </p:nvSpPr>
        <p:spPr>
          <a:xfrm>
            <a:off x="6951269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Fondo</a:t>
            </a:r>
            <a:endParaRPr lang="en-US" sz="1300" dirty="0"/>
          </a:p>
        </p:txBody>
      </p:sp>
      <p:sp>
        <p:nvSpPr>
          <p:cNvPr id="23" name="obj-214"/>
          <p:cNvSpPr txBox="1"/>
          <p:nvPr/>
        </p:nvSpPr>
        <p:spPr>
          <a:xfrm>
            <a:off x="6951269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Fondo de página</a:t>
            </a:r>
            <a:endParaRPr lang="en-US" sz="1200" dirty="0"/>
          </a:p>
        </p:txBody>
      </p:sp>
      <p:sp>
        <p:nvSpPr>
          <p:cNvPr id="24" name="obj-215"/>
          <p:cNvSpPr/>
          <p:nvPr/>
        </p:nvSpPr>
        <p:spPr>
          <a:xfrm>
            <a:off x="8517636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55566A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25" name="obj-216"/>
          <p:cNvSpPr txBox="1"/>
          <p:nvPr/>
        </p:nvSpPr>
        <p:spPr>
          <a:xfrm>
            <a:off x="8517636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#55566A</a:t>
            </a:r>
            <a:endParaRPr lang="en-US" sz="1500" dirty="0"/>
          </a:p>
        </p:txBody>
      </p:sp>
      <p:sp>
        <p:nvSpPr>
          <p:cNvPr id="26" name="obj-217"/>
          <p:cNvSpPr txBox="1"/>
          <p:nvPr/>
        </p:nvSpPr>
        <p:spPr>
          <a:xfrm>
            <a:off x="8517636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Tinta 2</a:t>
            </a:r>
            <a:endParaRPr lang="en-US" sz="1300" dirty="0"/>
          </a:p>
        </p:txBody>
      </p:sp>
      <p:sp>
        <p:nvSpPr>
          <p:cNvPr id="27" name="obj-218"/>
          <p:cNvSpPr txBox="1"/>
          <p:nvPr/>
        </p:nvSpPr>
        <p:spPr>
          <a:xfrm>
            <a:off x="8517636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 secundario</a:t>
            </a:r>
            <a:endParaRPr lang="en-US" sz="1200" dirty="0"/>
          </a:p>
        </p:txBody>
      </p:sp>
      <p:sp>
        <p:nvSpPr>
          <p:cNvPr id="28" name="obj-219"/>
          <p:cNvSpPr/>
          <p:nvPr/>
        </p:nvSpPr>
        <p:spPr>
          <a:xfrm>
            <a:off x="10084003" y="1874520"/>
            <a:ext cx="1417320" cy="2377440"/>
          </a:xfrm>
          <a:prstGeom prst="roundRect">
            <a:avLst>
              <a:gd name="adj" fmla="val 19355"/>
            </a:avLst>
          </a:prstGeom>
          <a:solidFill>
            <a:srgbClr val="8C8796"/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29" name="obj-220"/>
          <p:cNvSpPr txBox="1"/>
          <p:nvPr/>
        </p:nvSpPr>
        <p:spPr>
          <a:xfrm>
            <a:off x="10084003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#8C8796</a:t>
            </a:r>
            <a:endParaRPr lang="en-US" sz="1500" dirty="0"/>
          </a:p>
        </p:txBody>
      </p:sp>
      <p:sp>
        <p:nvSpPr>
          <p:cNvPr id="30" name="obj-221"/>
          <p:cNvSpPr txBox="1"/>
          <p:nvPr/>
        </p:nvSpPr>
        <p:spPr>
          <a:xfrm>
            <a:off x="10084003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Línea control</a:t>
            </a:r>
            <a:endParaRPr lang="en-US" sz="1300" dirty="0"/>
          </a:p>
        </p:txBody>
      </p:sp>
      <p:sp>
        <p:nvSpPr>
          <p:cNvPr id="31" name="obj-222"/>
          <p:cNvSpPr txBox="1"/>
          <p:nvPr/>
        </p:nvSpPr>
        <p:spPr>
          <a:xfrm>
            <a:off x="10084003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Bordes de controles</a:t>
            </a:r>
            <a:endParaRPr lang="en-US" sz="1200" dirty="0"/>
          </a:p>
        </p:txBody>
      </p:sp>
      <p:sp>
        <p:nvSpPr>
          <p:cNvPr id="32" name="obj-223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Lila, azul y lavanda existen solo para distinguir categorías en gráficas, siempre con etiqueta. Nunca como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EN LOS DATOS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Presidencial sólida, intermedia rayada</a:t>
            </a:r>
            <a:endParaRPr lang="en-US" sz="3600" dirty="0"/>
          </a:p>
        </p:txBody>
      </p:sp>
      <p:sp>
        <p:nvSpPr>
          <p:cNvPr id="5" name="obj-224"/>
          <p:cNvSpPr/>
          <p:nvPr/>
        </p:nvSpPr>
        <p:spPr>
          <a:xfrm>
            <a:off x="685800" y="5074920"/>
            <a:ext cx="649224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pic>
        <p:nvPicPr>
          <p:cNvPr id="6" name="obj-225" descr="Intermedia 2009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346704"/>
            <a:ext cx="868680" cy="1728216"/>
          </a:xfrm>
          <a:prstGeom prst="rect">
            <a:avLst/>
          </a:prstGeom>
        </p:spPr>
      </p:pic>
      <p:sp>
        <p:nvSpPr>
          <p:cNvPr id="7" name="obj-226"/>
          <p:cNvSpPr txBox="1"/>
          <p:nvPr/>
        </p:nvSpPr>
        <p:spPr>
          <a:xfrm>
            <a:off x="685800" y="2999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44.1</a:t>
            </a:r>
            <a:endParaRPr lang="en-US" sz="1400" dirty="0"/>
          </a:p>
        </p:txBody>
      </p:sp>
      <p:sp>
        <p:nvSpPr>
          <p:cNvPr id="8" name="obj-227"/>
          <p:cNvSpPr txBox="1"/>
          <p:nvPr/>
        </p:nvSpPr>
        <p:spPr>
          <a:xfrm>
            <a:off x="685800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2009</a:t>
            </a:r>
            <a:endParaRPr lang="en-US" sz="1300" dirty="0"/>
          </a:p>
        </p:txBody>
      </p:sp>
      <p:sp>
        <p:nvSpPr>
          <p:cNvPr id="9" name="obj-228"/>
          <p:cNvSpPr/>
          <p:nvPr/>
        </p:nvSpPr>
        <p:spPr>
          <a:xfrm>
            <a:off x="1810512" y="2641310"/>
            <a:ext cx="868680" cy="2433610"/>
          </a:xfrm>
          <a:prstGeom prst="rect">
            <a:avLst/>
          </a:prstGeom>
          <a:solidFill>
            <a:srgbClr val="5D1B6D"/>
          </a:solidFill>
          <a:ln w="12700">
            <a:solidFill>
              <a:srgbClr val="5D1B6D"/>
            </a:solidFill>
            <a:prstDash val="solid"/>
          </a:ln>
        </p:spPr>
      </p:sp>
      <p:sp>
        <p:nvSpPr>
          <p:cNvPr id="10" name="obj-229"/>
          <p:cNvSpPr txBox="1"/>
          <p:nvPr/>
        </p:nvSpPr>
        <p:spPr>
          <a:xfrm>
            <a:off x="1810512" y="229383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62.1</a:t>
            </a:r>
            <a:endParaRPr lang="en-US" sz="1400" dirty="0"/>
          </a:p>
        </p:txBody>
      </p:sp>
      <p:sp>
        <p:nvSpPr>
          <p:cNvPr id="11" name="obj-230"/>
          <p:cNvSpPr txBox="1"/>
          <p:nvPr/>
        </p:nvSpPr>
        <p:spPr>
          <a:xfrm>
            <a:off x="1810512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2012</a:t>
            </a:r>
            <a:endParaRPr lang="en-US" sz="1300" dirty="0"/>
          </a:p>
        </p:txBody>
      </p:sp>
      <p:pic>
        <p:nvPicPr>
          <p:cNvPr id="12" name="obj-231" descr="Intermedia 2015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35224" y="3229138"/>
            <a:ext cx="868680" cy="1845782"/>
          </a:xfrm>
          <a:prstGeom prst="rect">
            <a:avLst/>
          </a:prstGeom>
        </p:spPr>
      </p:pic>
      <p:sp>
        <p:nvSpPr>
          <p:cNvPr id="13" name="obj-232"/>
          <p:cNvSpPr txBox="1"/>
          <p:nvPr/>
        </p:nvSpPr>
        <p:spPr>
          <a:xfrm>
            <a:off x="2935224" y="288166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47.1</a:t>
            </a:r>
            <a:endParaRPr lang="en-US" sz="1400" dirty="0"/>
          </a:p>
        </p:txBody>
      </p:sp>
      <p:sp>
        <p:nvSpPr>
          <p:cNvPr id="14" name="obj-233"/>
          <p:cNvSpPr txBox="1"/>
          <p:nvPr/>
        </p:nvSpPr>
        <p:spPr>
          <a:xfrm>
            <a:off x="2935224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2015</a:t>
            </a:r>
            <a:endParaRPr lang="en-US" sz="1300" dirty="0"/>
          </a:p>
        </p:txBody>
      </p:sp>
      <p:sp>
        <p:nvSpPr>
          <p:cNvPr id="15" name="obj-234"/>
          <p:cNvSpPr/>
          <p:nvPr/>
        </p:nvSpPr>
        <p:spPr>
          <a:xfrm>
            <a:off x="4059936" y="2629553"/>
            <a:ext cx="868680" cy="2445367"/>
          </a:xfrm>
          <a:prstGeom prst="rect">
            <a:avLst/>
          </a:prstGeom>
          <a:solidFill>
            <a:srgbClr val="5D1B6D"/>
          </a:solidFill>
          <a:ln w="12700">
            <a:solidFill>
              <a:srgbClr val="5D1B6D"/>
            </a:solidFill>
            <a:prstDash val="solid"/>
          </a:ln>
        </p:spPr>
      </p:sp>
      <p:sp>
        <p:nvSpPr>
          <p:cNvPr id="16" name="obj-235"/>
          <p:cNvSpPr txBox="1"/>
          <p:nvPr/>
        </p:nvSpPr>
        <p:spPr>
          <a:xfrm>
            <a:off x="4059936" y="2282081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62.4</a:t>
            </a:r>
            <a:endParaRPr lang="en-US" sz="1400" dirty="0"/>
          </a:p>
        </p:txBody>
      </p:sp>
      <p:sp>
        <p:nvSpPr>
          <p:cNvPr id="17" name="obj-236"/>
          <p:cNvSpPr txBox="1"/>
          <p:nvPr/>
        </p:nvSpPr>
        <p:spPr>
          <a:xfrm>
            <a:off x="4059936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2018</a:t>
            </a:r>
            <a:endParaRPr lang="en-US" sz="1300" dirty="0"/>
          </a:p>
        </p:txBody>
      </p:sp>
      <p:pic>
        <p:nvPicPr>
          <p:cNvPr id="18" name="obj-237" descr="Intermedia 2021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84648" y="3044952"/>
            <a:ext cx="868680" cy="2029968"/>
          </a:xfrm>
          <a:prstGeom prst="rect">
            <a:avLst/>
          </a:prstGeom>
        </p:spPr>
      </p:pic>
      <p:sp>
        <p:nvSpPr>
          <p:cNvPr id="19" name="obj-238"/>
          <p:cNvSpPr txBox="1"/>
          <p:nvPr/>
        </p:nvSpPr>
        <p:spPr>
          <a:xfrm>
            <a:off x="5184648" y="2697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51.8</a:t>
            </a:r>
            <a:endParaRPr lang="en-US" sz="1400" dirty="0"/>
          </a:p>
        </p:txBody>
      </p:sp>
      <p:sp>
        <p:nvSpPr>
          <p:cNvPr id="20" name="obj-239"/>
          <p:cNvSpPr txBox="1"/>
          <p:nvPr/>
        </p:nvSpPr>
        <p:spPr>
          <a:xfrm>
            <a:off x="5184648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2021</a:t>
            </a:r>
            <a:endParaRPr lang="en-US" sz="1300" dirty="0"/>
          </a:p>
        </p:txBody>
      </p:sp>
      <p:sp>
        <p:nvSpPr>
          <p:cNvPr id="21" name="obj-240"/>
          <p:cNvSpPr/>
          <p:nvPr/>
        </p:nvSpPr>
        <p:spPr>
          <a:xfrm>
            <a:off x="6309360" y="2735362"/>
            <a:ext cx="868680" cy="2339558"/>
          </a:xfrm>
          <a:prstGeom prst="rect">
            <a:avLst/>
          </a:prstGeom>
          <a:solidFill>
            <a:srgbClr val="5D1B6D"/>
          </a:solidFill>
          <a:ln w="12700">
            <a:solidFill>
              <a:srgbClr val="5D1B6D"/>
            </a:solidFill>
            <a:prstDash val="solid"/>
          </a:ln>
        </p:spPr>
      </p:sp>
      <p:sp>
        <p:nvSpPr>
          <p:cNvPr id="22" name="obj-241"/>
          <p:cNvSpPr txBox="1"/>
          <p:nvPr/>
        </p:nvSpPr>
        <p:spPr>
          <a:xfrm>
            <a:off x="6309360" y="238789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59.7</a:t>
            </a:r>
            <a:endParaRPr lang="en-US" sz="1400" dirty="0"/>
          </a:p>
        </p:txBody>
      </p:sp>
      <p:sp>
        <p:nvSpPr>
          <p:cNvPr id="23" name="obj-242"/>
          <p:cNvSpPr txBox="1"/>
          <p:nvPr/>
        </p:nvSpPr>
        <p:spPr>
          <a:xfrm>
            <a:off x="6309360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2024</a:t>
            </a:r>
            <a:endParaRPr lang="en-US" sz="1300" dirty="0"/>
          </a:p>
        </p:txBody>
      </p:sp>
      <p:sp>
        <p:nvSpPr>
          <p:cNvPr id="24" name="obj-243"/>
          <p:cNvSpPr/>
          <p:nvPr/>
        </p:nvSpPr>
        <p:spPr>
          <a:xfrm>
            <a:off x="685800" y="55778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D1B6D"/>
          </a:solidFill>
          <a:ln/>
        </p:spPr>
      </p:sp>
      <p:sp>
        <p:nvSpPr>
          <p:cNvPr id="25" name="obj-244"/>
          <p:cNvSpPr txBox="1"/>
          <p:nvPr/>
        </p:nvSpPr>
        <p:spPr>
          <a:xfrm>
            <a:off x="978408" y="5541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Presidencial</a:t>
            </a:r>
            <a:endParaRPr lang="en-US" sz="1300" dirty="0"/>
          </a:p>
        </p:txBody>
      </p:sp>
      <p:pic>
        <p:nvPicPr>
          <p:cNvPr id="26" name="obj-245" descr="Muestra ray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5577840"/>
            <a:ext cx="201168" cy="201168"/>
          </a:xfrm>
          <a:prstGeom prst="rect">
            <a:avLst/>
          </a:prstGeom>
        </p:spPr>
      </p:pic>
      <p:sp>
        <p:nvSpPr>
          <p:cNvPr id="27" name="obj-246"/>
          <p:cNvSpPr txBox="1"/>
          <p:nvPr/>
        </p:nvSpPr>
        <p:spPr>
          <a:xfrm>
            <a:off x="2715768" y="5541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Intermedia</a:t>
            </a:r>
            <a:endParaRPr lang="en-US" sz="1300" dirty="0"/>
          </a:p>
        </p:txBody>
      </p:sp>
      <p:sp>
        <p:nvSpPr>
          <p:cNvPr id="28" name="obj-247"/>
          <p:cNvSpPr txBox="1"/>
          <p:nvPr/>
        </p:nvSpPr>
        <p:spPr>
          <a:xfrm>
            <a:off x="749808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Escala para mapas</a:t>
            </a:r>
            <a:endParaRPr lang="en-US" sz="2000" dirty="0"/>
          </a:p>
        </p:txBody>
      </p:sp>
      <p:sp>
        <p:nvSpPr>
          <p:cNvPr id="29" name="obj-248"/>
          <p:cNvSpPr/>
          <p:nvPr/>
        </p:nvSpPr>
        <p:spPr>
          <a:xfrm>
            <a:off x="7498080" y="2606040"/>
            <a:ext cx="502920" cy="411480"/>
          </a:xfrm>
          <a:prstGeom prst="rect">
            <a:avLst/>
          </a:prstGeom>
          <a:solidFill>
            <a:srgbClr val="FAE4F0"/>
          </a:solidFill>
          <a:ln w="12700">
            <a:solidFill>
              <a:srgbClr val="FAE4F0"/>
            </a:solidFill>
            <a:prstDash val="solid"/>
          </a:ln>
        </p:spPr>
      </p:sp>
      <p:sp>
        <p:nvSpPr>
          <p:cNvPr id="30" name="obj-249"/>
          <p:cNvSpPr/>
          <p:nvPr/>
        </p:nvSpPr>
        <p:spPr>
          <a:xfrm>
            <a:off x="8001000" y="2606040"/>
            <a:ext cx="502920" cy="411480"/>
          </a:xfrm>
          <a:prstGeom prst="rect">
            <a:avLst/>
          </a:prstGeom>
          <a:solidFill>
            <a:srgbClr val="FBD1E8"/>
          </a:solidFill>
          <a:ln w="12700">
            <a:solidFill>
              <a:srgbClr val="FBD1E8"/>
            </a:solidFill>
            <a:prstDash val="solid"/>
          </a:ln>
        </p:spPr>
      </p:sp>
      <p:sp>
        <p:nvSpPr>
          <p:cNvPr id="31" name="obj-250"/>
          <p:cNvSpPr/>
          <p:nvPr/>
        </p:nvSpPr>
        <p:spPr>
          <a:xfrm>
            <a:off x="8503920" y="2606040"/>
            <a:ext cx="502920" cy="411480"/>
          </a:xfrm>
          <a:prstGeom prst="rect">
            <a:avLst/>
          </a:prstGeom>
          <a:solidFill>
            <a:srgbClr val="F7A2D4"/>
          </a:solidFill>
          <a:ln w="12700">
            <a:solidFill>
              <a:srgbClr val="F7A2D4"/>
            </a:solidFill>
            <a:prstDash val="solid"/>
          </a:ln>
        </p:spPr>
      </p:sp>
      <p:sp>
        <p:nvSpPr>
          <p:cNvPr id="32" name="obj-251"/>
          <p:cNvSpPr/>
          <p:nvPr/>
        </p:nvSpPr>
        <p:spPr>
          <a:xfrm>
            <a:off x="9006840" y="2606040"/>
            <a:ext cx="502920" cy="411480"/>
          </a:xfrm>
          <a:prstGeom prst="rect">
            <a:avLst/>
          </a:prstGeom>
          <a:solidFill>
            <a:srgbClr val="EF67B8"/>
          </a:solidFill>
          <a:ln w="12700">
            <a:solidFill>
              <a:srgbClr val="EF67B8"/>
            </a:solidFill>
            <a:prstDash val="solid"/>
          </a:ln>
        </p:spPr>
      </p:sp>
      <p:sp>
        <p:nvSpPr>
          <p:cNvPr id="33" name="obj-252"/>
          <p:cNvSpPr/>
          <p:nvPr/>
        </p:nvSpPr>
        <p:spPr>
          <a:xfrm>
            <a:off x="9509760" y="2606040"/>
            <a:ext cx="502920" cy="411480"/>
          </a:xfrm>
          <a:prstGeom prst="rect">
            <a:avLst/>
          </a:prstGeom>
          <a:solidFill>
            <a:srgbClr val="E648A7"/>
          </a:solidFill>
          <a:ln w="12700">
            <a:solidFill>
              <a:srgbClr val="E648A7"/>
            </a:solidFill>
            <a:prstDash val="solid"/>
          </a:ln>
        </p:spPr>
      </p:sp>
      <p:sp>
        <p:nvSpPr>
          <p:cNvPr id="34" name="obj-253"/>
          <p:cNvSpPr/>
          <p:nvPr/>
        </p:nvSpPr>
        <p:spPr>
          <a:xfrm>
            <a:off x="10012680" y="2606040"/>
            <a:ext cx="502920" cy="411480"/>
          </a:xfrm>
          <a:prstGeom prst="rect">
            <a:avLst/>
          </a:prstGeom>
          <a:solidFill>
            <a:srgbClr val="B4318A"/>
          </a:solidFill>
          <a:ln w="12700">
            <a:solidFill>
              <a:srgbClr val="B4318A"/>
            </a:solidFill>
            <a:prstDash val="solid"/>
          </a:ln>
        </p:spPr>
      </p:sp>
      <p:sp>
        <p:nvSpPr>
          <p:cNvPr id="35" name="obj-254"/>
          <p:cNvSpPr/>
          <p:nvPr/>
        </p:nvSpPr>
        <p:spPr>
          <a:xfrm>
            <a:off x="10515600" y="2606040"/>
            <a:ext cx="502920" cy="411480"/>
          </a:xfrm>
          <a:prstGeom prst="rect">
            <a:avLst/>
          </a:prstGeom>
          <a:solidFill>
            <a:srgbClr val="802277"/>
          </a:solidFill>
          <a:ln w="12700">
            <a:solidFill>
              <a:srgbClr val="802277"/>
            </a:solidFill>
            <a:prstDash val="solid"/>
          </a:ln>
        </p:spPr>
      </p:sp>
      <p:sp>
        <p:nvSpPr>
          <p:cNvPr id="36" name="obj-255"/>
          <p:cNvSpPr/>
          <p:nvPr/>
        </p:nvSpPr>
        <p:spPr>
          <a:xfrm>
            <a:off x="11018520" y="2606040"/>
            <a:ext cx="502920" cy="411480"/>
          </a:xfrm>
          <a:prstGeom prst="rect">
            <a:avLst/>
          </a:prstGeom>
          <a:solidFill>
            <a:srgbClr val="5D1B6D"/>
          </a:solidFill>
          <a:ln w="12700">
            <a:solidFill>
              <a:srgbClr val="5D1B6D"/>
            </a:solidFill>
            <a:prstDash val="solid"/>
          </a:ln>
        </p:spPr>
      </p:sp>
      <p:sp>
        <p:nvSpPr>
          <p:cNvPr id="37" name="obj-256"/>
          <p:cNvSpPr txBox="1"/>
          <p:nvPr/>
        </p:nvSpPr>
        <p:spPr>
          <a:xfrm>
            <a:off x="749808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Menor participación</a:t>
            </a:r>
            <a:endParaRPr lang="en-US" sz="1200" dirty="0"/>
          </a:p>
        </p:txBody>
      </p:sp>
      <p:sp>
        <p:nvSpPr>
          <p:cNvPr id="38" name="obj-257"/>
          <p:cNvSpPr txBox="1"/>
          <p:nvPr/>
        </p:nvSpPr>
        <p:spPr>
          <a:xfrm>
            <a:off x="950976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Mayor participación</a:t>
            </a:r>
            <a:endParaRPr lang="en-US" sz="1200" dirty="0"/>
          </a:p>
        </p:txBody>
      </p:sp>
      <p:sp>
        <p:nvSpPr>
          <p:cNvPr id="39" name="obj-258"/>
          <p:cNvSpPr txBox="1"/>
          <p:nvPr/>
        </p:nvSpPr>
        <p:spPr>
          <a:xfrm>
            <a:off x="7498080" y="3794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solo color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Intermedias y presidenciales se distinguen por patrón y etiqueta (RN-03). Toda columna lleva su valor escrito y toda gráfica, una tabla alternativa.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-259"/>
          <p:cNvSpPr txBox="1"/>
          <p:nvPr/>
        </p:nvSpPr>
        <p:spPr>
          <a:xfrm>
            <a:off x="685800" y="10972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15000" dirty="0"/>
          </a:p>
        </p:txBody>
      </p:sp>
      <p:sp>
        <p:nvSpPr>
          <p:cNvPr id="4" name="obj-260"/>
          <p:cNvSpPr txBox="1"/>
          <p:nvPr/>
        </p:nvSpPr>
        <p:spPr>
          <a:xfrm>
            <a:off x="685800" y="3246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8C879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ABCDEFGHIJKLMNÑOPQRSTUVWXYZ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8C879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abcdefghijklmnñopqrstuvwxyz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8C879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0123456789 ¿? ¡! % ·</a:t>
            </a:r>
            <a:endParaRPr lang="en-US" sz="1900" dirty="0"/>
          </a:p>
        </p:txBody>
      </p:sp>
      <p:sp>
        <p:nvSpPr>
          <p:cNvPr id="5" name="obj-261"/>
          <p:cNvSpPr txBox="1"/>
          <p:nvPr/>
        </p:nvSpPr>
        <p:spPr>
          <a:xfrm>
            <a:off x="640080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TIPOGRAFÍA DE MARCA</a:t>
            </a:r>
            <a:endParaRPr lang="en-US" sz="1200" dirty="0"/>
          </a:p>
        </p:txBody>
      </p:sp>
      <p:sp>
        <p:nvSpPr>
          <p:cNvPr id="6" name="obj-262"/>
          <p:cNvSpPr txBox="1"/>
          <p:nvPr/>
        </p:nvSpPr>
        <p:spPr>
          <a:xfrm>
            <a:off x="640080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</a:t>
            </a:r>
            <a:endParaRPr lang="en-US" sz="5400" dirty="0"/>
          </a:p>
        </p:txBody>
      </p:sp>
      <p:sp>
        <p:nvSpPr>
          <p:cNvPr id="7" name="obj-263"/>
          <p:cNvSpPr txBox="1"/>
          <p:nvPr/>
        </p:nvSpPr>
        <p:spPr>
          <a:xfrm>
            <a:off x="6400800" y="2286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Geométrica, abierta y con números claros. Para titulares, cifras protagonistas y piezas de marca.</a:t>
            </a:r>
            <a:endParaRPr lang="en-US" sz="1600" dirty="0"/>
          </a:p>
        </p:txBody>
      </p:sp>
      <p:sp>
        <p:nvSpPr>
          <p:cNvPr id="8" name="obj-264"/>
          <p:cNvSpPr/>
          <p:nvPr/>
        </p:nvSpPr>
        <p:spPr>
          <a:xfrm>
            <a:off x="6400800" y="3291840"/>
            <a:ext cx="24688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9" name="obj-265"/>
          <p:cNvSpPr txBox="1"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SemiBold</a:t>
            </a:r>
            <a:endParaRPr lang="en-US" sz="2200" dirty="0"/>
          </a:p>
        </p:txBody>
      </p:sp>
      <p:sp>
        <p:nvSpPr>
          <p:cNvPr id="10" name="obj-266"/>
          <p:cNvSpPr txBox="1"/>
          <p:nvPr/>
        </p:nvSpPr>
        <p:spPr>
          <a:xfrm>
            <a:off x="667512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 · subtítulos</a:t>
            </a:r>
            <a:endParaRPr lang="en-US" sz="1300" dirty="0"/>
          </a:p>
        </p:txBody>
      </p:sp>
      <p:sp>
        <p:nvSpPr>
          <p:cNvPr id="11" name="obj-267"/>
          <p:cNvSpPr/>
          <p:nvPr/>
        </p:nvSpPr>
        <p:spPr>
          <a:xfrm>
            <a:off x="9052560" y="3291840"/>
            <a:ext cx="2468880" cy="1143000"/>
          </a:xfrm>
          <a:prstGeom prst="roundRect">
            <a:avLst>
              <a:gd name="adj" fmla="val 16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4354A"/>
            </a:solidFill>
            <a:prstDash val="solid"/>
          </a:ln>
        </p:spPr>
      </p:sp>
      <p:sp>
        <p:nvSpPr>
          <p:cNvPr id="12" name="obj-268"/>
          <p:cNvSpPr txBox="1"/>
          <p:nvPr/>
        </p:nvSpPr>
        <p:spPr>
          <a:xfrm>
            <a:off x="932688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Bold</a:t>
            </a:r>
            <a:endParaRPr lang="en-US" sz="2200" dirty="0"/>
          </a:p>
        </p:txBody>
      </p:sp>
      <p:sp>
        <p:nvSpPr>
          <p:cNvPr id="13" name="obj-269"/>
          <p:cNvSpPr txBox="1"/>
          <p:nvPr/>
        </p:nvSpPr>
        <p:spPr>
          <a:xfrm>
            <a:off x="932688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700 · titulares y cifras</a:t>
            </a:r>
            <a:endParaRPr lang="en-US" sz="1300" dirty="0"/>
          </a:p>
        </p:txBody>
      </p:sp>
      <p:sp>
        <p:nvSpPr>
          <p:cNvPr id="14" name="obj-270"/>
          <p:cNvSpPr txBox="1"/>
          <p:nvPr/>
        </p:nvSpPr>
        <p:spPr>
          <a:xfrm>
            <a:off x="6400800" y="4709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Texto e interfaz: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</a:t>
            </a:r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Regular 400, Medium 500 y SemiBold 600.</a:t>
            </a:r>
            <a:endParaRPr lang="en-US" sz="1500" dirty="0"/>
          </a:p>
        </p:txBody>
      </p:sp>
      <p:sp>
        <p:nvSpPr>
          <p:cNvPr id="15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JERARQUÍA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Una escala, pocas voces</a:t>
            </a:r>
            <a:endParaRPr lang="en-US" sz="3600" dirty="0"/>
          </a:p>
        </p:txBody>
      </p:sp>
      <p:sp>
        <p:nvSpPr>
          <p:cNvPr id="5" name="obj-271"/>
          <p:cNvSpPr/>
          <p:nvPr/>
        </p:nvSpPr>
        <p:spPr>
          <a:xfrm>
            <a:off x="685800" y="1783080"/>
            <a:ext cx="10817352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6" name="obj-272"/>
          <p:cNvSpPr txBox="1"/>
          <p:nvPr/>
        </p:nvSpPr>
        <p:spPr>
          <a:xfrm>
            <a:off x="685800" y="1911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Portada</a:t>
            </a:r>
            <a:endParaRPr lang="en-US" sz="1600" dirty="0"/>
          </a:p>
        </p:txBody>
      </p:sp>
      <p:sp>
        <p:nvSpPr>
          <p:cNvPr id="7" name="obj-273"/>
          <p:cNvSpPr txBox="1"/>
          <p:nvPr/>
        </p:nvSpPr>
        <p:spPr>
          <a:xfrm>
            <a:off x="68580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Sora 800 · 44/46</a:t>
            </a:r>
            <a:endParaRPr lang="en-US" sz="1200" dirty="0"/>
          </a:p>
        </p:txBody>
      </p:sp>
      <p:sp>
        <p:nvSpPr>
          <p:cNvPr id="8" name="obj-274"/>
          <p:cNvSpPr txBox="1"/>
          <p:nvPr/>
        </p:nvSpPr>
        <p:spPr>
          <a:xfrm>
            <a:off x="3840480" y="182880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¿Cuánto vota tu territorio?</a:t>
            </a:r>
            <a:endParaRPr lang="en-US" sz="3000" dirty="0"/>
          </a:p>
        </p:txBody>
      </p:sp>
      <p:sp>
        <p:nvSpPr>
          <p:cNvPr id="9" name="obj-275"/>
          <p:cNvSpPr/>
          <p:nvPr/>
        </p:nvSpPr>
        <p:spPr>
          <a:xfrm>
            <a:off x="685800" y="2587752"/>
            <a:ext cx="10817352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0" name="obj-276"/>
          <p:cNvSpPr txBox="1"/>
          <p:nvPr/>
        </p:nvSpPr>
        <p:spPr>
          <a:xfrm>
            <a:off x="68580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Cifra</a:t>
            </a:r>
            <a:endParaRPr lang="en-US" sz="1600" dirty="0"/>
          </a:p>
        </p:txBody>
      </p:sp>
      <p:sp>
        <p:nvSpPr>
          <p:cNvPr id="11" name="obj-277"/>
          <p:cNvSpPr txBox="1"/>
          <p:nvPr/>
        </p:nvSpPr>
        <p:spPr>
          <a:xfrm>
            <a:off x="685800" y="3026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Sora 700 · 56/56</a:t>
            </a:r>
            <a:endParaRPr lang="en-US" sz="1200" dirty="0"/>
          </a:p>
        </p:txBody>
      </p:sp>
      <p:sp>
        <p:nvSpPr>
          <p:cNvPr id="12" name="obj-278"/>
          <p:cNvSpPr txBox="1"/>
          <p:nvPr/>
        </p:nvSpPr>
        <p:spPr>
          <a:xfrm>
            <a:off x="3840480" y="2633472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59.7 %</a:t>
            </a:r>
            <a:endParaRPr lang="en-US" sz="3800" dirty="0"/>
          </a:p>
        </p:txBody>
      </p:sp>
      <p:sp>
        <p:nvSpPr>
          <p:cNvPr id="13" name="obj-279"/>
          <p:cNvSpPr/>
          <p:nvPr/>
        </p:nvSpPr>
        <p:spPr>
          <a:xfrm>
            <a:off x="685800" y="3392424"/>
            <a:ext cx="10817352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4" name="obj-280"/>
          <p:cNvSpPr txBox="1"/>
          <p:nvPr/>
        </p:nvSpPr>
        <p:spPr>
          <a:xfrm>
            <a:off x="6858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Titular h1</a:t>
            </a:r>
            <a:endParaRPr lang="en-US" sz="1600" dirty="0"/>
          </a:p>
        </p:txBody>
      </p:sp>
      <p:sp>
        <p:nvSpPr>
          <p:cNvPr id="15" name="obj-281"/>
          <p:cNvSpPr txBox="1"/>
          <p:nvPr/>
        </p:nvSpPr>
        <p:spPr>
          <a:xfrm>
            <a:off x="685800" y="3831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Sora 700 · 26/32</a:t>
            </a:r>
            <a:endParaRPr lang="en-US" sz="1200" dirty="0"/>
          </a:p>
        </p:txBody>
      </p:sp>
      <p:sp>
        <p:nvSpPr>
          <p:cNvPr id="16" name="obj-282"/>
          <p:cNvSpPr txBox="1"/>
          <p:nvPr/>
        </p:nvSpPr>
        <p:spPr>
          <a:xfrm>
            <a:off x="3840480" y="3438144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 años presidenciales se vota más.</a:t>
            </a:r>
            <a:endParaRPr lang="en-US" sz="2200" dirty="0"/>
          </a:p>
        </p:txBody>
      </p:sp>
      <p:sp>
        <p:nvSpPr>
          <p:cNvPr id="17" name="obj-283"/>
          <p:cNvSpPr/>
          <p:nvPr/>
        </p:nvSpPr>
        <p:spPr>
          <a:xfrm>
            <a:off x="685800" y="4197096"/>
            <a:ext cx="10817352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8" name="obj-284"/>
          <p:cNvSpPr txBox="1"/>
          <p:nvPr/>
        </p:nvSpPr>
        <p:spPr>
          <a:xfrm>
            <a:off x="685800" y="4325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Cuerpo</a:t>
            </a:r>
            <a:endParaRPr lang="en-US" sz="1600" dirty="0"/>
          </a:p>
        </p:txBody>
      </p:sp>
      <p:sp>
        <p:nvSpPr>
          <p:cNvPr id="19" name="obj-285"/>
          <p:cNvSpPr txBox="1"/>
          <p:nvPr/>
        </p:nvSpPr>
        <p:spPr>
          <a:xfrm>
            <a:off x="685800" y="4636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400 · 16/24</a:t>
            </a:r>
            <a:endParaRPr lang="en-US" sz="1200" dirty="0"/>
          </a:p>
        </p:txBody>
      </p:sp>
      <p:sp>
        <p:nvSpPr>
          <p:cNvPr id="20" name="obj-286"/>
          <p:cNvSpPr txBox="1"/>
          <p:nvPr/>
        </p:nvSpPr>
        <p:spPr>
          <a:xfrm>
            <a:off x="3840480" y="4242816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Elige tu entidad y tu municipio para ver sus cifras junto a las nacionales.</a:t>
            </a:r>
            <a:endParaRPr lang="en-US" sz="1500" dirty="0"/>
          </a:p>
        </p:txBody>
      </p:sp>
      <p:sp>
        <p:nvSpPr>
          <p:cNvPr id="21" name="obj-287"/>
          <p:cNvSpPr/>
          <p:nvPr/>
        </p:nvSpPr>
        <p:spPr>
          <a:xfrm>
            <a:off x="685800" y="5001768"/>
            <a:ext cx="10817352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22" name="obj-288"/>
          <p:cNvSpPr txBox="1"/>
          <p:nvPr/>
        </p:nvSpPr>
        <p:spPr>
          <a:xfrm>
            <a:off x="685800" y="5129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1600" dirty="0"/>
          </a:p>
        </p:txBody>
      </p:sp>
      <p:sp>
        <p:nvSpPr>
          <p:cNvPr id="23" name="obj-289"/>
          <p:cNvSpPr txBox="1"/>
          <p:nvPr/>
        </p:nvSpPr>
        <p:spPr>
          <a:xfrm>
            <a:off x="685800" y="5440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400 · 14/20</a:t>
            </a:r>
            <a:endParaRPr lang="en-US" sz="1200" dirty="0"/>
          </a:p>
        </p:txBody>
      </p:sp>
      <p:sp>
        <p:nvSpPr>
          <p:cNvPr id="24" name="obj-290"/>
          <p:cNvSpPr txBox="1"/>
          <p:nvPr/>
        </p:nvSpPr>
        <p:spPr>
          <a:xfrm>
            <a:off x="3840480" y="504748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Nacional · Elección federal 2024</a:t>
            </a:r>
            <a:endParaRPr lang="en-US" sz="1300" dirty="0"/>
          </a:p>
        </p:txBody>
      </p:sp>
      <p:sp>
        <p:nvSpPr>
          <p:cNvPr id="25" name="obj-291"/>
          <p:cNvSpPr/>
          <p:nvPr/>
        </p:nvSpPr>
        <p:spPr>
          <a:xfrm>
            <a:off x="685800" y="5806440"/>
            <a:ext cx="10817352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766560" y="320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EB1C8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4343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Interfaz y datos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se ve la marca dentro de la app: pantallas y componentes.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APP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Una idea por pantalla</a:t>
            </a:r>
            <a:endParaRPr lang="en-US" sz="3600" dirty="0"/>
          </a:p>
        </p:txBody>
      </p:sp>
      <p:pic>
        <p:nvPicPr>
          <p:cNvPr id="5" name="obj-292" descr="Pantalla nar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057400" cy="4343400"/>
          </a:xfrm>
          <a:prstGeom prst="rect">
            <a:avLst/>
          </a:prstGeom>
        </p:spPr>
      </p:pic>
      <p:pic>
        <p:nvPicPr>
          <p:cNvPr id="6" name="obj-293" descr="Hoja de fu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2057400" cy="4343400"/>
          </a:xfrm>
          <a:prstGeom prst="rect">
            <a:avLst/>
          </a:prstGeom>
        </p:spPr>
      </p:pic>
      <p:pic>
        <p:nvPicPr>
          <p:cNvPr id="7" name="obj-294" descr="Pantalla utilitar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783080"/>
            <a:ext cx="2057400" cy="4343400"/>
          </a:xfrm>
          <a:prstGeom prst="rect">
            <a:avLst/>
          </a:prstGeom>
        </p:spPr>
      </p:pic>
      <p:sp>
        <p:nvSpPr>
          <p:cNvPr id="8" name="obj-295"/>
          <p:cNvSpPr txBox="1"/>
          <p:nvPr/>
        </p:nvSpPr>
        <p:spPr>
          <a:xfrm>
            <a:off x="7909560" y="1920240"/>
            <a:ext cx="3611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Tres plantillas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Narrativa: </a:t>
            </a:r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zona superior de 56 px, 632 px de contenido sin scroll y zona inferior de 72 px.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Hoja: </a:t>
            </a:r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sube al 70 % del alto para Fuente, Compartir y Ajustes.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Utilitaria: </a:t>
            </a:r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«‹ Volver», título y acción principal fija abajo.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Controles que se tocan con el pulgar</a:t>
            </a:r>
            <a:endParaRPr lang="en-US" sz="3600" dirty="0"/>
          </a:p>
        </p:txBody>
      </p:sp>
      <p:sp>
        <p:nvSpPr>
          <p:cNvPr id="4" name="obj-296"/>
          <p:cNvSpPr/>
          <p:nvPr/>
        </p:nvSpPr>
        <p:spPr>
          <a:xfrm>
            <a:off x="685800" y="1874520"/>
            <a:ext cx="3840480" cy="566928"/>
          </a:xfrm>
          <a:prstGeom prst="roundRect">
            <a:avLst>
              <a:gd name="adj" fmla="val 50000"/>
            </a:avLst>
          </a:prstGeom>
          <a:solidFill>
            <a:srgbClr val="171824"/>
          </a:solidFill>
          <a:ln/>
        </p:spPr>
      </p:sp>
      <p:sp>
        <p:nvSpPr>
          <p:cNvPr id="5" name="obj-297"/>
          <p:cNvSpPr txBox="1"/>
          <p:nvPr/>
        </p:nvSpPr>
        <p:spPr>
          <a:xfrm>
            <a:off x="685800" y="1874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 mis cifras  →</a:t>
            </a:r>
            <a:endParaRPr lang="en-US" sz="1600" dirty="0"/>
          </a:p>
        </p:txBody>
      </p:sp>
      <p:sp>
        <p:nvSpPr>
          <p:cNvPr id="6" name="obj-298"/>
          <p:cNvSpPr/>
          <p:nvPr/>
        </p:nvSpPr>
        <p:spPr>
          <a:xfrm>
            <a:off x="685800" y="26517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8C8796"/>
            </a:solidFill>
            <a:prstDash val="solid"/>
          </a:ln>
        </p:spPr>
      </p:sp>
      <p:sp>
        <p:nvSpPr>
          <p:cNvPr id="7" name="obj-299"/>
          <p:cNvSpPr txBox="1"/>
          <p:nvPr/>
        </p:nvSpPr>
        <p:spPr>
          <a:xfrm>
            <a:off x="68580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ⓘ  Fuente</a:t>
            </a:r>
            <a:endParaRPr lang="en-US" sz="1400" dirty="0"/>
          </a:p>
        </p:txBody>
      </p:sp>
      <p:sp>
        <p:nvSpPr>
          <p:cNvPr id="8" name="obj-300"/>
          <p:cNvSpPr/>
          <p:nvPr/>
        </p:nvSpPr>
        <p:spPr>
          <a:xfrm>
            <a:off x="2423160" y="2651760"/>
            <a:ext cx="17830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8C8796"/>
            </a:solidFill>
            <a:prstDash val="solid"/>
          </a:ln>
        </p:spPr>
      </p:sp>
      <p:sp>
        <p:nvSpPr>
          <p:cNvPr id="9" name="obj-301"/>
          <p:cNvSpPr txBox="1"/>
          <p:nvPr/>
        </p:nvSpPr>
        <p:spPr>
          <a:xfrm>
            <a:off x="242316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↗  Compartir</a:t>
            </a:r>
            <a:endParaRPr lang="en-US" sz="1400" dirty="0"/>
          </a:p>
        </p:txBody>
      </p:sp>
      <p:sp>
        <p:nvSpPr>
          <p:cNvPr id="10" name="obj-302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8796"/>
            </a:solidFill>
            <a:prstDash val="solid"/>
          </a:ln>
        </p:spPr>
      </p:sp>
      <p:sp>
        <p:nvSpPr>
          <p:cNvPr id="11" name="obj-303"/>
          <p:cNvSpPr txBox="1"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‹</a:t>
            </a:r>
            <a:endParaRPr lang="en-US" sz="1800" dirty="0"/>
          </a:p>
        </p:txBody>
      </p:sp>
      <p:sp>
        <p:nvSpPr>
          <p:cNvPr id="12" name="obj-304"/>
          <p:cNvSpPr/>
          <p:nvPr/>
        </p:nvSpPr>
        <p:spPr>
          <a:xfrm>
            <a:off x="1325880" y="3383280"/>
            <a:ext cx="502920" cy="502920"/>
          </a:xfrm>
          <a:prstGeom prst="ellipse">
            <a:avLst/>
          </a:prstGeom>
          <a:solidFill>
            <a:srgbClr val="171824"/>
          </a:solidFill>
          <a:ln w="12700">
            <a:solidFill>
              <a:srgbClr val="171824"/>
            </a:solidFill>
            <a:prstDash val="solid"/>
          </a:ln>
        </p:spPr>
      </p:sp>
      <p:sp>
        <p:nvSpPr>
          <p:cNvPr id="13" name="obj-305"/>
          <p:cNvSpPr txBox="1"/>
          <p:nvPr/>
        </p:nvSpPr>
        <p:spPr>
          <a:xfrm>
            <a:off x="13258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obj-306"/>
          <p:cNvSpPr/>
          <p:nvPr/>
        </p:nvSpPr>
        <p:spPr>
          <a:xfrm>
            <a:off x="2011680" y="338328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3F2F5"/>
          </a:solidFill>
          <a:ln w="15875">
            <a:solidFill>
              <a:srgbClr val="8C8796"/>
            </a:solidFill>
            <a:prstDash val="solid"/>
          </a:ln>
        </p:spPr>
      </p:sp>
      <p:sp>
        <p:nvSpPr>
          <p:cNvPr id="15" name="obj-307"/>
          <p:cNvSpPr txBox="1"/>
          <p:nvPr/>
        </p:nvSpPr>
        <p:spPr>
          <a:xfrm>
            <a:off x="201168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Jalisco · Zapopan ▾</a:t>
            </a:r>
            <a:endParaRPr lang="en-US" sz="1300" dirty="0"/>
          </a:p>
        </p:txBody>
      </p:sp>
      <p:sp>
        <p:nvSpPr>
          <p:cNvPr id="16" name="obj-308"/>
          <p:cNvSpPr/>
          <p:nvPr/>
        </p:nvSpPr>
        <p:spPr>
          <a:xfrm>
            <a:off x="685800" y="411480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F3F2F5"/>
          </a:solidFill>
          <a:ln/>
        </p:spPr>
      </p:sp>
      <p:sp>
        <p:nvSpPr>
          <p:cNvPr id="17" name="obj-309"/>
          <p:cNvSpPr/>
          <p:nvPr/>
        </p:nvSpPr>
        <p:spPr>
          <a:xfrm>
            <a:off x="749808" y="4169664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FE3F1"/>
          </a:solidFill>
          <a:ln w="15875">
            <a:solidFill>
              <a:srgbClr val="FF2D94"/>
            </a:solidFill>
            <a:prstDash val="solid"/>
          </a:ln>
        </p:spPr>
      </p:sp>
      <p:sp>
        <p:nvSpPr>
          <p:cNvPr id="18" name="obj-310"/>
          <p:cNvSpPr txBox="1"/>
          <p:nvPr/>
        </p:nvSpPr>
        <p:spPr>
          <a:xfrm>
            <a:off x="749808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Historia 9:16</a:t>
            </a:r>
            <a:endParaRPr lang="en-US" sz="1300" dirty="0"/>
          </a:p>
        </p:txBody>
      </p:sp>
      <p:sp>
        <p:nvSpPr>
          <p:cNvPr id="19" name="obj-311"/>
          <p:cNvSpPr txBox="1"/>
          <p:nvPr/>
        </p:nvSpPr>
        <p:spPr>
          <a:xfrm>
            <a:off x="2606040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Publicación 1:1</a:t>
            </a:r>
            <a:endParaRPr lang="en-US" sz="1300" dirty="0"/>
          </a:p>
        </p:txBody>
      </p:sp>
      <p:sp>
        <p:nvSpPr>
          <p:cNvPr id="20" name="obj-312"/>
          <p:cNvSpPr/>
          <p:nvPr/>
        </p:nvSpPr>
        <p:spPr>
          <a:xfrm>
            <a:off x="5120640" y="1874520"/>
            <a:ext cx="3017520" cy="27889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21" name="obj-313"/>
          <p:cNvSpPr txBox="1"/>
          <p:nvPr/>
        </p:nvSpPr>
        <p:spPr>
          <a:xfrm>
            <a:off x="5394960" y="2148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59.7</a:t>
            </a:r>
            <a:pPr indent="0" marL="0">
              <a:buNone/>
            </a:pPr>
            <a:r>
              <a:rPr lang="en-US" sz="2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%</a:t>
            </a:r>
            <a:endParaRPr lang="en-US" sz="5000" dirty="0"/>
          </a:p>
        </p:txBody>
      </p:sp>
      <p:sp>
        <p:nvSpPr>
          <p:cNvPr id="22" name="obj-314"/>
          <p:cNvSpPr txBox="1"/>
          <p:nvPr/>
        </p:nvSpPr>
        <p:spPr>
          <a:xfrm>
            <a:off x="539496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Nacional · Elección federal 2024</a:t>
            </a:r>
            <a:endParaRPr lang="en-US" sz="1300" dirty="0"/>
          </a:p>
        </p:txBody>
      </p:sp>
      <p:sp>
        <p:nvSpPr>
          <p:cNvPr id="23" name="obj-315"/>
          <p:cNvSpPr txBox="1"/>
          <p:nvPr/>
        </p:nvSpPr>
        <p:spPr>
          <a:xfrm>
            <a:off x="539496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Cifra con contexto (RN-10)</a:t>
            </a:r>
            <a:endParaRPr lang="en-US" sz="1200" dirty="0"/>
          </a:p>
        </p:txBody>
      </p:sp>
      <p:sp>
        <p:nvSpPr>
          <p:cNvPr id="24" name="obj-316"/>
          <p:cNvSpPr/>
          <p:nvPr/>
        </p:nvSpPr>
        <p:spPr>
          <a:xfrm>
            <a:off x="8366760" y="1874520"/>
            <a:ext cx="3136392" cy="1325880"/>
          </a:xfrm>
          <a:prstGeom prst="roundRect">
            <a:avLst>
              <a:gd name="adj" fmla="val 17241"/>
            </a:avLst>
          </a:prstGeom>
          <a:solidFill>
            <a:srgbClr val="F3F2F5"/>
          </a:solidFill>
          <a:ln/>
        </p:spPr>
      </p:sp>
      <p:sp>
        <p:nvSpPr>
          <p:cNvPr id="25" name="obj-317"/>
          <p:cNvSpPr txBox="1"/>
          <p:nvPr/>
        </p:nvSpPr>
        <p:spPr>
          <a:xfrm>
            <a:off x="8595360" y="20116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ⓘ  </a:t>
            </a:r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Mostramos cifras de </a:t>
            </a:r>
            <a:pPr indent="0" marL="0">
              <a:buNone/>
            </a:pPr>
            <a:r>
              <a:rPr lang="en-US" sz="13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Jalisco</a:t>
            </a:r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el municipio tiene muy pocos registros.</a:t>
            </a:r>
            <a:endParaRPr lang="en-US" sz="1300" dirty="0"/>
          </a:p>
        </p:txBody>
      </p:sp>
      <p:sp>
        <p:nvSpPr>
          <p:cNvPr id="26" name="obj-318"/>
          <p:cNvSpPr/>
          <p:nvPr/>
        </p:nvSpPr>
        <p:spPr>
          <a:xfrm>
            <a:off x="8366760" y="3337560"/>
            <a:ext cx="3136392" cy="132588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C8106E"/>
            </a:solidFill>
            <a:prstDash val="solid"/>
          </a:ln>
        </p:spPr>
      </p:sp>
      <p:sp>
        <p:nvSpPr>
          <p:cNvPr id="27" name="obj-319"/>
          <p:cNvSpPr txBox="1"/>
          <p:nvPr/>
        </p:nvSpPr>
        <p:spPr>
          <a:xfrm>
            <a:off x="8595360" y="34747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pudimos cargar las cifras.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Revisa tu conexión y reintenta.</a:t>
            </a:r>
            <a:endParaRPr lang="en-US" sz="1300" dirty="0"/>
          </a:p>
        </p:txBody>
      </p:sp>
      <p:sp>
        <p:nvSpPr>
          <p:cNvPr id="28" name="obj-320"/>
          <p:cNvSpPr txBox="1"/>
          <p:nvPr/>
        </p:nvSpPr>
        <p:spPr>
          <a:xfrm>
            <a:off x="685800" y="5029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primario es tinta, nunca magenta: </a:t>
            </a:r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magenta marca identidad y selección, no acción. Todo control mide al menos 44 px y muestra foco con un anillo de 2 px.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ACCESIBILIDAD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Contraste que se lee a la primera</a:t>
            </a:r>
            <a:endParaRPr lang="en-US" sz="3600" dirty="0"/>
          </a:p>
        </p:txBody>
      </p:sp>
      <p:graphicFrame>
        <p:nvGraphicFramePr>
          <p:cNvPr id="24" name="obj-3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173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737360"/>
                <a:gridCol w="54223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Color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Sobre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Contraste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Uso permitido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■  #171824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Papel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17.6 : 1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Todo texto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566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■  #55566A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Papel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7.2 : 1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Texto secundario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6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■  #C8106E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Papel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5.6 : 1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Texto pequeño en magenta, enlaces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2D9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■  #FF2D94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Papel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3.5 : 1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Solo texto de 24 px o más, iconos y bordes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■  #171824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Magenta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5.1 : 1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Texto sobre bloques magenta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81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■  #B481FF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Papel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2.4 – 2.8 : 1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8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Lila, azul y lavanda: nunca texto, siempre con etiqueta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obj-322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Ningún significado depende solo del color: series con patrón, valores escritos y tabla alternativa en cada gráfica (WCAG 2.2 AA).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766560" y="320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EB1C8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4343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Aplicaciones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marca en redes, en la tarjeta para compartir y en papel.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DIGITAL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Lista para cada pantalla</a:t>
            </a:r>
            <a:endParaRPr lang="en-US" sz="3600" dirty="0"/>
          </a:p>
        </p:txBody>
      </p:sp>
      <p:sp>
        <p:nvSpPr>
          <p:cNvPr id="4" name="obj-323"/>
          <p:cNvSpPr/>
          <p:nvPr/>
        </p:nvSpPr>
        <p:spPr>
          <a:xfrm>
            <a:off x="667512" y="2084832"/>
            <a:ext cx="2139696" cy="2139696"/>
          </a:xfrm>
          <a:prstGeom prst="roundRect">
            <a:avLst>
              <a:gd name="adj" fmla="val 21368"/>
            </a:avLst>
          </a:prstGeom>
          <a:ln w="12700">
            <a:solidFill>
              <a:srgbClr val="44455A"/>
            </a:solidFill>
            <a:prstDash val="solid"/>
          </a:ln>
        </p:spPr>
      </p:sp>
      <p:pic>
        <p:nvPicPr>
          <p:cNvPr id="5" name="obj-324" descr="Ícono de la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103120" cy="2103120"/>
          </a:xfrm>
          <a:prstGeom prst="rect">
            <a:avLst/>
          </a:prstGeom>
        </p:spPr>
      </p:pic>
      <p:sp>
        <p:nvSpPr>
          <p:cNvPr id="6" name="obj-325"/>
          <p:cNvSpPr txBox="1"/>
          <p:nvPr/>
        </p:nvSpPr>
        <p:spPr>
          <a:xfrm>
            <a:off x="68580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Ícono de app</a:t>
            </a:r>
            <a:endParaRPr lang="en-US" sz="1400" dirty="0"/>
          </a:p>
        </p:txBody>
      </p:sp>
      <p:sp>
        <p:nvSpPr>
          <p:cNvPr id="7" name="obj-326"/>
          <p:cNvSpPr/>
          <p:nvPr/>
        </p:nvSpPr>
        <p:spPr>
          <a:xfrm>
            <a:off x="3063240" y="2103120"/>
            <a:ext cx="2103120" cy="2103120"/>
          </a:xfrm>
          <a:prstGeom prst="roundRect">
            <a:avLst>
              <a:gd name="adj" fmla="val 21739"/>
            </a:avLst>
          </a:prstGeom>
          <a:solidFill>
            <a:srgbClr val="FFE3F1"/>
          </a:solidFill>
          <a:ln/>
        </p:spPr>
      </p:sp>
      <p:pic>
        <p:nvPicPr>
          <p:cNvPr id="8" name="obj-327" descr="Avatar en re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552444"/>
            <a:ext cx="1371600" cy="1204472"/>
          </a:xfrm>
          <a:prstGeom prst="rect">
            <a:avLst/>
          </a:prstGeom>
        </p:spPr>
      </p:pic>
      <p:sp>
        <p:nvSpPr>
          <p:cNvPr id="9" name="obj-328"/>
          <p:cNvSpPr txBox="1"/>
          <p:nvPr/>
        </p:nvSpPr>
        <p:spPr>
          <a:xfrm>
            <a:off x="306324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Avatar en redes</a:t>
            </a:r>
            <a:endParaRPr lang="en-US" sz="1400" dirty="0"/>
          </a:p>
        </p:txBody>
      </p:sp>
      <p:sp>
        <p:nvSpPr>
          <p:cNvPr id="10" name="obj-329"/>
          <p:cNvSpPr/>
          <p:nvPr/>
        </p:nvSpPr>
        <p:spPr>
          <a:xfrm>
            <a:off x="5440680" y="2103120"/>
            <a:ext cx="6062472" cy="2103120"/>
          </a:xfrm>
          <a:prstGeom prst="roundRect">
            <a:avLst>
              <a:gd name="adj" fmla="val 17391"/>
            </a:avLst>
          </a:prstGeom>
          <a:solidFill>
            <a:srgbClr val="5D1B6D"/>
          </a:solidFill>
          <a:ln/>
        </p:spPr>
      </p:sp>
      <p:sp>
        <p:nvSpPr>
          <p:cNvPr id="11" name="obj-330"/>
          <p:cNvSpPr txBox="1"/>
          <p:nvPr/>
        </p:nvSpPr>
        <p:spPr>
          <a:xfrm>
            <a:off x="585216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ReVoto</a:t>
            </a:r>
            <a:endParaRPr lang="en-US" sz="4800" dirty="0"/>
          </a:p>
        </p:txBody>
      </p:sp>
      <p:sp>
        <p:nvSpPr>
          <p:cNvPr id="12" name="obj-331"/>
          <p:cNvSpPr txBox="1"/>
          <p:nvPr/>
        </p:nvSpPr>
        <p:spPr>
          <a:xfrm>
            <a:off x="585216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E3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¿Cuánto vota tu territorio?</a:t>
            </a:r>
            <a:endParaRPr lang="en-US" sz="1700" dirty="0"/>
          </a:p>
        </p:txBody>
      </p:sp>
      <p:pic>
        <p:nvPicPr>
          <p:cNvPr id="13" name="obj-332" descr="Isotip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193" y="2377440"/>
            <a:ext cx="1770173" cy="1554480"/>
          </a:xfrm>
          <a:prstGeom prst="rect">
            <a:avLst/>
          </a:prstGeom>
        </p:spPr>
      </p:pic>
      <p:sp>
        <p:nvSpPr>
          <p:cNvPr id="14" name="obj-333"/>
          <p:cNvSpPr txBox="1"/>
          <p:nvPr/>
        </p:nvSpPr>
        <p:spPr>
          <a:xfrm>
            <a:off x="5440680" y="4343400"/>
            <a:ext cx="6062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Portada de redes sociales</a:t>
            </a:r>
            <a:endParaRPr lang="en-US" sz="1400" dirty="0"/>
          </a:p>
        </p:txBody>
      </p:sp>
      <p:sp>
        <p:nvSpPr>
          <p:cNvPr id="15" name="obj-334"/>
          <p:cNvSpPr txBox="1"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redes, el isotipo se usa entero y con aire. Fondos permitidos: tinta, uva, papel y rosa claro.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TARJETA PARA COMPARTIR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 cifra viaja con su contexto</a:t>
            </a:r>
            <a:endParaRPr lang="en-US" sz="3600" dirty="0"/>
          </a:p>
        </p:txBody>
      </p:sp>
      <p:pic>
        <p:nvPicPr>
          <p:cNvPr id="5" name="obj-335" descr="Vista previa de la tarjeta para compart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23" y="1783080"/>
            <a:ext cx="3403915" cy="4297680"/>
          </a:xfrm>
          <a:prstGeom prst="rect">
            <a:avLst/>
          </a:prstGeom>
        </p:spPr>
      </p:pic>
      <p:sp>
        <p:nvSpPr>
          <p:cNvPr id="6" name="obj-336"/>
          <p:cNvSpPr/>
          <p:nvPr/>
        </p:nvSpPr>
        <p:spPr>
          <a:xfrm>
            <a:off x="5486400" y="1965960"/>
            <a:ext cx="411480" cy="411480"/>
          </a:xfrm>
          <a:prstGeom prst="ellipse">
            <a:avLst/>
          </a:prstGeom>
          <a:solidFill>
            <a:srgbClr val="FF2D94"/>
          </a:solidFill>
          <a:ln w="12700">
            <a:solidFill>
              <a:srgbClr val="FF2D94"/>
            </a:solidFill>
            <a:prstDash val="solid"/>
          </a:ln>
        </p:spPr>
      </p:sp>
      <p:sp>
        <p:nvSpPr>
          <p:cNvPr id="7" name="obj-337"/>
          <p:cNvSpPr txBox="1"/>
          <p:nvPr/>
        </p:nvSpPr>
        <p:spPr>
          <a:xfrm>
            <a:off x="54864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obj-338"/>
          <p:cNvSpPr txBox="1"/>
          <p:nvPr/>
        </p:nvSpPr>
        <p:spPr>
          <a:xfrm>
            <a:off x="612648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Logotipo arriba</a:t>
            </a:r>
            <a:endParaRPr lang="en-US" sz="2000" dirty="0"/>
          </a:p>
        </p:txBody>
      </p:sp>
      <p:sp>
        <p:nvSpPr>
          <p:cNvPr id="9" name="obj-339"/>
          <p:cNvSpPr txBox="1"/>
          <p:nvPr/>
        </p:nvSpPr>
        <p:spPr>
          <a:xfrm>
            <a:off x="612648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Siempre el logotipo completo, sobre papel.</a:t>
            </a:r>
            <a:endParaRPr lang="en-US" sz="1500" dirty="0"/>
          </a:p>
        </p:txBody>
      </p:sp>
      <p:sp>
        <p:nvSpPr>
          <p:cNvPr id="10" name="obj-340"/>
          <p:cNvSpPr/>
          <p:nvPr/>
        </p:nvSpPr>
        <p:spPr>
          <a:xfrm>
            <a:off x="5486400" y="2926080"/>
            <a:ext cx="411480" cy="411480"/>
          </a:xfrm>
          <a:prstGeom prst="ellipse">
            <a:avLst/>
          </a:prstGeom>
          <a:solidFill>
            <a:srgbClr val="FF2D94"/>
          </a:solidFill>
          <a:ln w="12700">
            <a:solidFill>
              <a:srgbClr val="FF2D94"/>
            </a:solidFill>
            <a:prstDash val="solid"/>
          </a:ln>
        </p:spPr>
      </p:sp>
      <p:sp>
        <p:nvSpPr>
          <p:cNvPr id="11" name="obj-341"/>
          <p:cNvSpPr txBox="1"/>
          <p:nvPr/>
        </p:nvSpPr>
        <p:spPr>
          <a:xfrm>
            <a:off x="54864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obj-342"/>
          <p:cNvSpPr txBox="1"/>
          <p:nvPr/>
        </p:nvSpPr>
        <p:spPr>
          <a:xfrm>
            <a:off x="6126480" y="2880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Una cifra protagonista</a:t>
            </a:r>
            <a:endParaRPr lang="en-US" sz="2000" dirty="0"/>
          </a:p>
        </p:txBody>
      </p:sp>
      <p:sp>
        <p:nvSpPr>
          <p:cNvPr id="13" name="obj-343"/>
          <p:cNvSpPr txBox="1"/>
          <p:nvPr/>
        </p:nvSpPr>
        <p:spPr>
          <a:xfrm>
            <a:off x="612648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territorio y periodo debajo (RN-10).</a:t>
            </a:r>
            <a:endParaRPr lang="en-US" sz="1500" dirty="0"/>
          </a:p>
        </p:txBody>
      </p:sp>
      <p:sp>
        <p:nvSpPr>
          <p:cNvPr id="14" name="obj-344"/>
          <p:cNvSpPr/>
          <p:nvPr/>
        </p:nvSpPr>
        <p:spPr>
          <a:xfrm>
            <a:off x="5486400" y="3886200"/>
            <a:ext cx="411480" cy="411480"/>
          </a:xfrm>
          <a:prstGeom prst="ellipse">
            <a:avLst/>
          </a:prstGeom>
          <a:solidFill>
            <a:srgbClr val="FF2D94"/>
          </a:solidFill>
          <a:ln w="12700">
            <a:solidFill>
              <a:srgbClr val="FF2D94"/>
            </a:solidFill>
            <a:prstDash val="solid"/>
          </a:ln>
        </p:spPr>
      </p:sp>
      <p:sp>
        <p:nvSpPr>
          <p:cNvPr id="15" name="obj-345"/>
          <p:cNvSpPr txBox="1"/>
          <p:nvPr/>
        </p:nvSpPr>
        <p:spPr>
          <a:xfrm>
            <a:off x="54864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obj-346"/>
          <p:cNvSpPr txBox="1"/>
          <p:nvPr/>
        </p:nvSpPr>
        <p:spPr>
          <a:xfrm>
            <a:off x="6126480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Fuente escrita</a:t>
            </a:r>
            <a:endParaRPr lang="en-US" sz="2000" dirty="0"/>
          </a:p>
        </p:txBody>
      </p:sp>
      <p:sp>
        <p:nvSpPr>
          <p:cNvPr id="17" name="obj-347"/>
          <p:cNvSpPr txBox="1"/>
          <p:nvPr/>
        </p:nvSpPr>
        <p:spPr>
          <a:xfrm>
            <a:off x="612648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«Fuente: INE, conteos censales · revoto.mx».</a:t>
            </a:r>
            <a:endParaRPr lang="en-US" sz="1500" dirty="0"/>
          </a:p>
        </p:txBody>
      </p:sp>
      <p:sp>
        <p:nvSpPr>
          <p:cNvPr id="18" name="obj-348"/>
          <p:cNvSpPr/>
          <p:nvPr/>
        </p:nvSpPr>
        <p:spPr>
          <a:xfrm>
            <a:off x="5486400" y="4846320"/>
            <a:ext cx="411480" cy="411480"/>
          </a:xfrm>
          <a:prstGeom prst="ellipse">
            <a:avLst/>
          </a:prstGeom>
          <a:solidFill>
            <a:srgbClr val="FF2D94"/>
          </a:solidFill>
          <a:ln w="12700">
            <a:solidFill>
              <a:srgbClr val="FF2D94"/>
            </a:solidFill>
            <a:prstDash val="solid"/>
          </a:ln>
        </p:spPr>
      </p:sp>
      <p:sp>
        <p:nvSpPr>
          <p:cNvPr id="19" name="obj-349"/>
          <p:cNvSpPr txBox="1"/>
          <p:nvPr/>
        </p:nvSpPr>
        <p:spPr>
          <a:xfrm>
            <a:off x="54864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obj-350"/>
          <p:cNvSpPr txBox="1"/>
          <p:nvPr/>
        </p:nvSpPr>
        <p:spPr>
          <a:xfrm>
            <a:off x="6126480" y="4800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Dos formatos</a:t>
            </a:r>
            <a:endParaRPr lang="en-US" sz="2000" dirty="0"/>
          </a:p>
        </p:txBody>
      </p:sp>
      <p:sp>
        <p:nvSpPr>
          <p:cNvPr id="21" name="obj-351"/>
          <p:cNvSpPr txBox="1"/>
          <p:nvPr/>
        </p:nvSpPr>
        <p:spPr>
          <a:xfrm>
            <a:off x="6126480" y="5212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Historia 9:16 y publicación 1:1.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1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PAPELERÍA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Sobria, con mucho aire</a:t>
            </a:r>
            <a:endParaRPr lang="en-US" sz="3600" dirty="0"/>
          </a:p>
        </p:txBody>
      </p:sp>
      <p:sp>
        <p:nvSpPr>
          <p:cNvPr id="5" name="obj-352"/>
          <p:cNvSpPr/>
          <p:nvPr/>
        </p:nvSpPr>
        <p:spPr>
          <a:xfrm>
            <a:off x="685800" y="1783080"/>
            <a:ext cx="10817352" cy="4160520"/>
          </a:xfrm>
          <a:prstGeom prst="roundRect">
            <a:avLst>
              <a:gd name="adj" fmla="val 10989"/>
            </a:avLst>
          </a:prstGeom>
          <a:solidFill>
            <a:srgbClr val="F3F2F5"/>
          </a:solidFill>
          <a:ln/>
        </p:spPr>
      </p:sp>
      <p:sp>
        <p:nvSpPr>
          <p:cNvPr id="6" name="obj-353"/>
          <p:cNvSpPr/>
          <p:nvPr/>
        </p:nvSpPr>
        <p:spPr>
          <a:xfrm>
            <a:off x="1737360" y="2103120"/>
            <a:ext cx="4206240" cy="1600200"/>
          </a:xfrm>
          <a:prstGeom prst="roundRect">
            <a:avLst>
              <a:gd name="adj" fmla="val 17143"/>
            </a:avLst>
          </a:prstGeom>
          <a:solidFill>
            <a:srgbClr val="171824"/>
          </a:solidFill>
          <a:ln/>
        </p:spPr>
      </p:sp>
      <p:pic>
        <p:nvPicPr>
          <p:cNvPr id="7" name="obj-354" descr="Tarjeta, f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428635"/>
            <a:ext cx="1554480" cy="949171"/>
          </a:xfrm>
          <a:prstGeom prst="rect">
            <a:avLst/>
          </a:prstGeom>
        </p:spPr>
      </p:pic>
      <p:sp>
        <p:nvSpPr>
          <p:cNvPr id="8" name="obj-355"/>
          <p:cNvSpPr/>
          <p:nvPr/>
        </p:nvSpPr>
        <p:spPr>
          <a:xfrm>
            <a:off x="1737360" y="3931920"/>
            <a:ext cx="4206240" cy="16002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pic>
        <p:nvPicPr>
          <p:cNvPr id="9" name="obj-356" descr="Tarjeta, rever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128967"/>
            <a:ext cx="777240" cy="474585"/>
          </a:xfrm>
          <a:prstGeom prst="rect">
            <a:avLst/>
          </a:prstGeom>
        </p:spPr>
      </p:pic>
      <p:sp>
        <p:nvSpPr>
          <p:cNvPr id="10" name="obj-357"/>
          <p:cNvSpPr txBox="1"/>
          <p:nvPr/>
        </p:nvSpPr>
        <p:spPr>
          <a:xfrm>
            <a:off x="201168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[Nombre Apellido]</a:t>
            </a:r>
            <a:endParaRPr lang="en-US" sz="1500" dirty="0"/>
          </a:p>
        </p:txBody>
      </p:sp>
      <p:sp>
        <p:nvSpPr>
          <p:cNvPr id="11" name="obj-358"/>
          <p:cNvSpPr txBox="1"/>
          <p:nvPr/>
        </p:nvSpPr>
        <p:spPr>
          <a:xfrm>
            <a:off x="2011680" y="5074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[rol] · MIWA · Hackathon INE 2026</a:t>
            </a:r>
            <a:endParaRPr lang="en-US" sz="1200" dirty="0"/>
          </a:p>
        </p:txBody>
      </p:sp>
      <p:sp>
        <p:nvSpPr>
          <p:cNvPr id="12" name="obj-359"/>
          <p:cNvSpPr/>
          <p:nvPr/>
        </p:nvSpPr>
        <p:spPr>
          <a:xfrm>
            <a:off x="6492240" y="2103120"/>
            <a:ext cx="3200400" cy="342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pic>
        <p:nvPicPr>
          <p:cNvPr id="13" name="obj-360" descr="Hoja membreta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91607"/>
            <a:ext cx="777240" cy="474585"/>
          </a:xfrm>
          <a:prstGeom prst="rect">
            <a:avLst/>
          </a:prstGeom>
        </p:spPr>
      </p:pic>
      <p:sp>
        <p:nvSpPr>
          <p:cNvPr id="14" name="obj-361"/>
          <p:cNvSpPr/>
          <p:nvPr/>
        </p:nvSpPr>
        <p:spPr>
          <a:xfrm>
            <a:off x="6812280" y="3154680"/>
            <a:ext cx="2560320" cy="64008"/>
          </a:xfrm>
          <a:prstGeom prst="rect">
            <a:avLst/>
          </a:prstGeom>
          <a:solidFill>
            <a:srgbClr val="E6E1E6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15" name="obj-362"/>
          <p:cNvSpPr/>
          <p:nvPr/>
        </p:nvSpPr>
        <p:spPr>
          <a:xfrm>
            <a:off x="6812280" y="3383280"/>
            <a:ext cx="2560320" cy="64008"/>
          </a:xfrm>
          <a:prstGeom prst="rect">
            <a:avLst/>
          </a:prstGeom>
          <a:solidFill>
            <a:srgbClr val="E6E1E6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16" name="obj-363"/>
          <p:cNvSpPr/>
          <p:nvPr/>
        </p:nvSpPr>
        <p:spPr>
          <a:xfrm>
            <a:off x="6812280" y="3611880"/>
            <a:ext cx="1828800" cy="64008"/>
          </a:xfrm>
          <a:prstGeom prst="rect">
            <a:avLst/>
          </a:prstGeom>
          <a:solidFill>
            <a:srgbClr val="E6E1E6"/>
          </a:solidFill>
          <a:ln w="12700">
            <a:solidFill>
              <a:srgbClr val="E6E1E6"/>
            </a:solidFill>
            <a:prstDash val="solid"/>
          </a:ln>
        </p:spPr>
      </p:sp>
      <p:sp>
        <p:nvSpPr>
          <p:cNvPr id="17" name="obj-364"/>
          <p:cNvSpPr/>
          <p:nvPr/>
        </p:nvSpPr>
        <p:spPr>
          <a:xfrm>
            <a:off x="6812280" y="4937760"/>
            <a:ext cx="2560320" cy="0"/>
          </a:xfrm>
          <a:prstGeom prst="line">
            <a:avLst/>
          </a:prstGeom>
          <a:noFill/>
          <a:ln w="12700">
            <a:solidFill>
              <a:srgbClr val="E6E1E6"/>
            </a:solidFill>
            <a:prstDash val="solid"/>
          </a:ln>
        </p:spPr>
      </p:sp>
      <p:sp>
        <p:nvSpPr>
          <p:cNvPr id="18" name="obj-365"/>
          <p:cNvSpPr txBox="1"/>
          <p:nvPr/>
        </p:nvSpPr>
        <p:spPr>
          <a:xfrm>
            <a:off x="68122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revoto.mx</a:t>
            </a:r>
            <a:endParaRPr lang="en-US" sz="1200" dirty="0"/>
          </a:p>
        </p:txBody>
      </p:sp>
      <p:sp>
        <p:nvSpPr>
          <p:cNvPr id="19" name="obj-366"/>
          <p:cNvSpPr txBox="1"/>
          <p:nvPr/>
        </p:nvSpPr>
        <p:spPr>
          <a:xfrm>
            <a:off x="9875520" y="5257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5566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Dominio de ejemplo: confirmar antes de imprimir.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56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D9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RECURSOS GRÁFICOS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El símbolo se vuelve patrón</a:t>
            </a:r>
            <a:endParaRPr lang="en-US" sz="3600" dirty="0"/>
          </a:p>
        </p:txBody>
      </p:sp>
      <p:pic>
        <p:nvPicPr>
          <p:cNvPr id="4" name="obj-367" descr="img/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3032"/>
            <a:ext cx="1463040" cy="1284770"/>
          </a:xfrm>
          <a:prstGeom prst="rect">
            <a:avLst/>
          </a:prstGeom>
        </p:spPr>
      </p:pic>
      <p:pic>
        <p:nvPicPr>
          <p:cNvPr id="5" name="obj-368" descr="img/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378370"/>
            <a:ext cx="1005840" cy="883280"/>
          </a:xfrm>
          <a:prstGeom prst="rect">
            <a:avLst/>
          </a:prstGeom>
        </p:spPr>
      </p:pic>
      <p:pic>
        <p:nvPicPr>
          <p:cNvPr id="6" name="obj-369" descr="img/i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967101"/>
            <a:ext cx="1234440" cy="1084025"/>
          </a:xfrm>
          <a:prstGeom prst="rect">
            <a:avLst/>
          </a:prstGeom>
        </p:spPr>
      </p:pic>
      <p:pic>
        <p:nvPicPr>
          <p:cNvPr id="7" name="obj-370" descr="img/i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32481"/>
            <a:ext cx="822960" cy="722683"/>
          </a:xfrm>
          <a:prstGeom prst="rect">
            <a:avLst/>
          </a:prstGeom>
        </p:spPr>
      </p:pic>
      <p:pic>
        <p:nvPicPr>
          <p:cNvPr id="8" name="obj-371" descr="img/is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012948"/>
            <a:ext cx="1371600" cy="1204472"/>
          </a:xfrm>
          <a:prstGeom prst="rect">
            <a:avLst/>
          </a:prstGeom>
        </p:spPr>
      </p:pic>
      <p:pic>
        <p:nvPicPr>
          <p:cNvPr id="9" name="obj-372" descr="img/is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2424005"/>
            <a:ext cx="914400" cy="802982"/>
          </a:xfrm>
          <a:prstGeom prst="rect">
            <a:avLst/>
          </a:prstGeom>
        </p:spPr>
      </p:pic>
      <p:pic>
        <p:nvPicPr>
          <p:cNvPr id="10" name="obj-373" descr="img/is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2058583"/>
            <a:ext cx="1280160" cy="1124174"/>
          </a:xfrm>
          <a:prstGeom prst="rect">
            <a:avLst/>
          </a:prstGeom>
        </p:spPr>
      </p:pic>
      <p:sp>
        <p:nvSpPr>
          <p:cNvPr id="11" name="obj-374"/>
          <p:cNvSpPr/>
          <p:nvPr/>
        </p:nvSpPr>
        <p:spPr>
          <a:xfrm>
            <a:off x="685800" y="4069080"/>
            <a:ext cx="3456432" cy="0"/>
          </a:xfrm>
          <a:prstGeom prst="line">
            <a:avLst/>
          </a:prstGeom>
          <a:noFill/>
          <a:ln w="15875">
            <a:solidFill>
              <a:srgbClr val="FF2D94"/>
            </a:solidFill>
            <a:prstDash val="solid"/>
          </a:ln>
        </p:spPr>
      </p:sp>
      <p:sp>
        <p:nvSpPr>
          <p:cNvPr id="12" name="obj-375"/>
          <p:cNvSpPr txBox="1"/>
          <p:nvPr/>
        </p:nvSpPr>
        <p:spPr>
          <a:xfrm>
            <a:off x="685800" y="42519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Patrón de boletas</a:t>
            </a:r>
            <a:endParaRPr lang="en-US" sz="2200" dirty="0"/>
          </a:p>
        </p:txBody>
      </p:sp>
      <p:sp>
        <p:nvSpPr>
          <p:cNvPr id="13" name="obj-376"/>
          <p:cNvSpPr txBox="1"/>
          <p:nvPr/>
        </p:nvSpPr>
        <p:spPr>
          <a:xfrm>
            <a:off x="685800" y="4754880"/>
            <a:ext cx="3456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isotipo repetido en tamaños distintos, siempre entero, sobre tinta o uva.</a:t>
            </a:r>
            <a:endParaRPr lang="en-US" sz="1500" dirty="0"/>
          </a:p>
        </p:txBody>
      </p:sp>
      <p:sp>
        <p:nvSpPr>
          <p:cNvPr id="14" name="obj-377"/>
          <p:cNvSpPr/>
          <p:nvPr/>
        </p:nvSpPr>
        <p:spPr>
          <a:xfrm>
            <a:off x="4370832" y="4069080"/>
            <a:ext cx="3456432" cy="0"/>
          </a:xfrm>
          <a:prstGeom prst="line">
            <a:avLst/>
          </a:prstGeom>
          <a:noFill/>
          <a:ln w="15875">
            <a:solidFill>
              <a:srgbClr val="FF2D94"/>
            </a:solidFill>
            <a:prstDash val="solid"/>
          </a:ln>
        </p:spPr>
      </p:sp>
      <p:sp>
        <p:nvSpPr>
          <p:cNvPr id="15" name="obj-378"/>
          <p:cNvSpPr txBox="1"/>
          <p:nvPr/>
        </p:nvSpPr>
        <p:spPr>
          <a:xfrm>
            <a:off x="4370832" y="42519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Iconografía</a:t>
            </a:r>
            <a:endParaRPr lang="en-US" sz="2200" dirty="0"/>
          </a:p>
        </p:txBody>
      </p:sp>
      <p:sp>
        <p:nvSpPr>
          <p:cNvPr id="16" name="obj-379"/>
          <p:cNvSpPr txBox="1"/>
          <p:nvPr/>
        </p:nvSpPr>
        <p:spPr>
          <a:xfrm>
            <a:off x="4370832" y="4754880"/>
            <a:ext cx="3456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Trazo lineal de 2 px, extremos redondeados, un solo color. Lucide o Phosphor.</a:t>
            </a:r>
            <a:endParaRPr lang="en-US" sz="1500" dirty="0"/>
          </a:p>
        </p:txBody>
      </p:sp>
      <p:sp>
        <p:nvSpPr>
          <p:cNvPr id="17" name="obj-380"/>
          <p:cNvSpPr/>
          <p:nvPr/>
        </p:nvSpPr>
        <p:spPr>
          <a:xfrm>
            <a:off x="8055864" y="4069080"/>
            <a:ext cx="3456432" cy="0"/>
          </a:xfrm>
          <a:prstGeom prst="line">
            <a:avLst/>
          </a:prstGeom>
          <a:noFill/>
          <a:ln w="15875">
            <a:solidFill>
              <a:srgbClr val="FF2D94"/>
            </a:solidFill>
            <a:prstDash val="solid"/>
          </a:ln>
        </p:spPr>
      </p:sp>
      <p:sp>
        <p:nvSpPr>
          <p:cNvPr id="18" name="obj-381"/>
          <p:cNvSpPr txBox="1"/>
          <p:nvPr/>
        </p:nvSpPr>
        <p:spPr>
          <a:xfrm>
            <a:off x="8055864" y="42519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Ilustración</a:t>
            </a:r>
            <a:endParaRPr lang="en-US" sz="2200" dirty="0"/>
          </a:p>
        </p:txBody>
      </p:sp>
      <p:sp>
        <p:nvSpPr>
          <p:cNvPr id="19" name="obj-382"/>
          <p:cNvSpPr txBox="1"/>
          <p:nvPr/>
        </p:nvSpPr>
        <p:spPr>
          <a:xfrm>
            <a:off x="8055864" y="4754880"/>
            <a:ext cx="3456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Collage recortado: boletas, manos y trazos a mano. Sin rostros, partidos ni colores de campaña.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C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-383" descr="Logotipo de ReV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5608" y="1753575"/>
            <a:ext cx="3840480" cy="2345010"/>
          </a:xfrm>
          <a:prstGeom prst="rect">
            <a:avLst/>
          </a:prstGeom>
        </p:spPr>
      </p:pic>
      <p:sp>
        <p:nvSpPr>
          <p:cNvPr id="3" name="obj-384"/>
          <p:cNvSpPr txBox="1"/>
          <p:nvPr/>
        </p:nvSpPr>
        <p:spPr>
          <a:xfrm>
            <a:off x="0" y="44348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2D9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 voto se suma.</a:t>
            </a:r>
            <a:endParaRPr lang="en-US" sz="3200" dirty="0"/>
          </a:p>
        </p:txBody>
      </p:sp>
      <p:sp>
        <p:nvSpPr>
          <p:cNvPr id="4" name="obj-385"/>
          <p:cNvSpPr txBox="1"/>
          <p:nvPr/>
        </p:nvSpPr>
        <p:spPr>
          <a:xfrm>
            <a:off x="0" y="6172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79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MIWA · Hackathon INE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oto">
  <a:themeElements>
    <a:clrScheme name="ReVoto">
      <a:dk1>
        <a:srgbClr val="171824"/>
      </a:dk1>
      <a:lt1>
        <a:srgbClr val="FFFFFF"/>
      </a:lt1>
      <a:dk2>
        <a:srgbClr val="55566A"/>
      </a:dk2>
      <a:lt2>
        <a:srgbClr val="FBF7F8"/>
      </a:lt2>
      <a:accent1>
        <a:srgbClr val="FF2D94"/>
      </a:accent1>
      <a:accent2>
        <a:srgbClr val="C8106E"/>
      </a:accent2>
      <a:accent3>
        <a:srgbClr val="933D82"/>
      </a:accent3>
      <a:accent4>
        <a:srgbClr val="5D1B6D"/>
      </a:accent4>
      <a:accent5>
        <a:srgbClr val="FFE3F1"/>
      </a:accent5>
      <a:accent6>
        <a:srgbClr val="8C8796"/>
      </a:accent6>
      <a:hlink>
        <a:srgbClr val="C8106E"/>
      </a:hlink>
      <a:folHlink>
        <a:srgbClr val="933D82"/>
      </a:folHlink>
    </a:clrScheme>
    <a:fontScheme name="ReVoto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MIWA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ReVoto · Manual de identidad de marca</dc:title>
  <dc:subject>PptxGenJS Presentation</dc:subject>
  <dc:creator>Angel Mauricio Ramirez · MIWA</dc:creator>
  <cp:lastModifiedBy>Angel Mauricio Ramirez · MIWA</cp:lastModifiedBy>
  <cp:revision>1</cp:revision>
  <dcterms:created xsi:type="dcterms:W3CDTF">2026-10-11T02:33:31Z</dcterms:created>
  <dcterms:modified xsi:type="dcterms:W3CDTF">2026-10-11T02:33:31Z</dcterms:modified>
</cp:coreProperties>
</file>